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72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4" r:id="rId17"/>
    <p:sldId id="271" r:id="rId18"/>
  </p:sldIdLst>
  <p:sldSz cx="12192000" cy="6858000"/>
  <p:notesSz cx="6858000" cy="9144000"/>
  <p:embeddedFontLst>
    <p:embeddedFont>
      <p:font typeface="Century Gothic" panose="020B0502020202020204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irjfFyYNBG5sNntC35Cbhoqt17C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3D4CE9-386E-4D57-B293-6089E574A4E8}" type="doc">
      <dgm:prSet loTypeId="urn:microsoft.com/office/officeart/2005/8/layout/default" loCatId="list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73721907-FF5D-4D76-BD4C-5BBE6D7C3C3B}">
      <dgm:prSet phldrT="[Texte]" phldr="0"/>
      <dgm:spPr/>
      <dgm:t>
        <a:bodyPr/>
        <a:lstStyle/>
        <a:p>
          <a:r>
            <a: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Population</a:t>
          </a:r>
        </a:p>
      </dgm:t>
    </dgm:pt>
    <dgm:pt modelId="{1D2CB82E-3465-4641-9DB6-F838EB1D9666}" type="parTrans" cxnId="{12D2631C-00B5-4F27-A247-A97E040D04B6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5920056-94F0-4239-85C8-E34C2FD2ED69}" type="sibTrans" cxnId="{12D2631C-00B5-4F27-A247-A97E040D04B6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B827B7-D2FD-4DF4-8B95-152424EB8F8D}">
      <dgm:prSet phldrT="[Texte]" phldr="0"/>
      <dgm:spPr/>
      <dgm:t>
        <a:bodyPr/>
        <a:lstStyle/>
        <a:p>
          <a:r>
            <a:rPr lang="fr-FR" b="1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Dispo.Alimentaire</a:t>
          </a:r>
          <a:endParaRPr lang="fr-FR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8A6982A2-B4D5-4116-8F8A-44E15953825A}" type="parTrans" cxnId="{07EC460A-9F05-42B7-B5F7-1A36D38C0A0F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475A2F68-E242-4D50-8963-2FAA168BC54F}" type="sibTrans" cxnId="{07EC460A-9F05-42B7-B5F7-1A36D38C0A0F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035E2433-47C6-4CE2-8C95-2A49EE147879}">
      <dgm:prSet phldrT="[Texte]" phldr="0"/>
      <dgm:spPr/>
      <dgm:t>
        <a:bodyPr/>
        <a:lstStyle/>
        <a:p>
          <a:r>
            <a: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Aide Alimentaire</a:t>
          </a:r>
        </a:p>
      </dgm:t>
    </dgm:pt>
    <dgm:pt modelId="{181EF0CD-5BA0-4329-9DBD-AED7E3C226CD}" type="parTrans" cxnId="{36A9393B-1027-4C55-A327-309EFA22D1FE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FA9FB0EB-9679-4164-B438-2E6B3BB701E3}" type="sibTrans" cxnId="{36A9393B-1027-4C55-A327-309EFA22D1FE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261E7618-063B-4113-BB49-4479A9433945}">
      <dgm:prSet phldrT="[Texte]" phldr="0"/>
      <dgm:spPr/>
      <dgm:t>
        <a:bodyPr/>
        <a:lstStyle/>
        <a:p>
          <a:r>
            <a:rPr lang="fr-FR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Sous nutrition</a:t>
          </a:r>
        </a:p>
      </dgm:t>
    </dgm:pt>
    <dgm:pt modelId="{12F599AA-418A-45FE-B668-75C1CD23D00B}" type="parTrans" cxnId="{DF54CD2F-06EF-4896-A98D-F3C13C215936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963D2AAF-860A-46AC-B93F-42108C1800F7}" type="sibTrans" cxnId="{DF54CD2F-06EF-4896-A98D-F3C13C215936}">
      <dgm:prSet/>
      <dgm:spPr/>
      <dgm:t>
        <a:bodyPr/>
        <a:lstStyle/>
        <a:p>
          <a:endParaRPr lang="fr-FR" b="1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C38FA992-AB4E-4CE2-8D05-89C7BED94963}" type="pres">
      <dgm:prSet presAssocID="{7D3D4CE9-386E-4D57-B293-6089E574A4E8}" presName="diagram" presStyleCnt="0">
        <dgm:presLayoutVars>
          <dgm:dir/>
          <dgm:resizeHandles val="exact"/>
        </dgm:presLayoutVars>
      </dgm:prSet>
      <dgm:spPr/>
    </dgm:pt>
    <dgm:pt modelId="{9A880907-4661-4F6D-BC36-19F2058A5676}" type="pres">
      <dgm:prSet presAssocID="{73721907-FF5D-4D76-BD4C-5BBE6D7C3C3B}" presName="node" presStyleLbl="node1" presStyleIdx="0" presStyleCnt="4">
        <dgm:presLayoutVars>
          <dgm:bulletEnabled val="1"/>
        </dgm:presLayoutVars>
      </dgm:prSet>
      <dgm:spPr/>
    </dgm:pt>
    <dgm:pt modelId="{007876E1-92CD-4142-BD47-69FFC69EE455}" type="pres">
      <dgm:prSet presAssocID="{F5920056-94F0-4239-85C8-E34C2FD2ED69}" presName="sibTrans" presStyleCnt="0"/>
      <dgm:spPr/>
    </dgm:pt>
    <dgm:pt modelId="{722742F7-288F-4A20-8C5B-5B01190102B6}" type="pres">
      <dgm:prSet presAssocID="{03B827B7-D2FD-4DF4-8B95-152424EB8F8D}" presName="node" presStyleLbl="node1" presStyleIdx="1" presStyleCnt="4">
        <dgm:presLayoutVars>
          <dgm:bulletEnabled val="1"/>
        </dgm:presLayoutVars>
      </dgm:prSet>
      <dgm:spPr/>
    </dgm:pt>
    <dgm:pt modelId="{508EDC6F-CDF5-42EA-BFAB-7C8486C11921}" type="pres">
      <dgm:prSet presAssocID="{475A2F68-E242-4D50-8963-2FAA168BC54F}" presName="sibTrans" presStyleCnt="0"/>
      <dgm:spPr/>
    </dgm:pt>
    <dgm:pt modelId="{A0D63EE3-C057-49EB-AA3E-E35ABC98184B}" type="pres">
      <dgm:prSet presAssocID="{035E2433-47C6-4CE2-8C95-2A49EE147879}" presName="node" presStyleLbl="node1" presStyleIdx="2" presStyleCnt="4">
        <dgm:presLayoutVars>
          <dgm:bulletEnabled val="1"/>
        </dgm:presLayoutVars>
      </dgm:prSet>
      <dgm:spPr/>
    </dgm:pt>
    <dgm:pt modelId="{BD945492-2CBE-4B47-A7D6-9ED4A0D7D4BE}" type="pres">
      <dgm:prSet presAssocID="{FA9FB0EB-9679-4164-B438-2E6B3BB701E3}" presName="sibTrans" presStyleCnt="0"/>
      <dgm:spPr/>
    </dgm:pt>
    <dgm:pt modelId="{4F2D6526-8CFC-4811-8F7A-4252BEE3902C}" type="pres">
      <dgm:prSet presAssocID="{261E7618-063B-4113-BB49-4479A9433945}" presName="node" presStyleLbl="node1" presStyleIdx="3" presStyleCnt="4" custLinFactNeighborX="465" custLinFactNeighborY="-1943">
        <dgm:presLayoutVars>
          <dgm:bulletEnabled val="1"/>
        </dgm:presLayoutVars>
      </dgm:prSet>
      <dgm:spPr/>
    </dgm:pt>
  </dgm:ptLst>
  <dgm:cxnLst>
    <dgm:cxn modelId="{07EC460A-9F05-42B7-B5F7-1A36D38C0A0F}" srcId="{7D3D4CE9-386E-4D57-B293-6089E574A4E8}" destId="{03B827B7-D2FD-4DF4-8B95-152424EB8F8D}" srcOrd="1" destOrd="0" parTransId="{8A6982A2-B4D5-4116-8F8A-44E15953825A}" sibTransId="{475A2F68-E242-4D50-8963-2FAA168BC54F}"/>
    <dgm:cxn modelId="{5A381C0D-E351-4D21-9AE7-E4B50B5FB4F8}" type="presOf" srcId="{7D3D4CE9-386E-4D57-B293-6089E574A4E8}" destId="{C38FA992-AB4E-4CE2-8D05-89C7BED94963}" srcOrd="0" destOrd="0" presId="urn:microsoft.com/office/officeart/2005/8/layout/default"/>
    <dgm:cxn modelId="{DEA05514-3EE6-45ED-9B8A-6DDA1FC5D022}" type="presOf" srcId="{261E7618-063B-4113-BB49-4479A9433945}" destId="{4F2D6526-8CFC-4811-8F7A-4252BEE3902C}" srcOrd="0" destOrd="0" presId="urn:microsoft.com/office/officeart/2005/8/layout/default"/>
    <dgm:cxn modelId="{99CF701A-8D30-4D08-AE8C-987047517362}" type="presOf" srcId="{73721907-FF5D-4D76-BD4C-5BBE6D7C3C3B}" destId="{9A880907-4661-4F6D-BC36-19F2058A5676}" srcOrd="0" destOrd="0" presId="urn:microsoft.com/office/officeart/2005/8/layout/default"/>
    <dgm:cxn modelId="{12D2631C-00B5-4F27-A247-A97E040D04B6}" srcId="{7D3D4CE9-386E-4D57-B293-6089E574A4E8}" destId="{73721907-FF5D-4D76-BD4C-5BBE6D7C3C3B}" srcOrd="0" destOrd="0" parTransId="{1D2CB82E-3465-4641-9DB6-F838EB1D9666}" sibTransId="{F5920056-94F0-4239-85C8-E34C2FD2ED69}"/>
    <dgm:cxn modelId="{DF54CD2F-06EF-4896-A98D-F3C13C215936}" srcId="{7D3D4CE9-386E-4D57-B293-6089E574A4E8}" destId="{261E7618-063B-4113-BB49-4479A9433945}" srcOrd="3" destOrd="0" parTransId="{12F599AA-418A-45FE-B668-75C1CD23D00B}" sibTransId="{963D2AAF-860A-46AC-B93F-42108C1800F7}"/>
    <dgm:cxn modelId="{36A9393B-1027-4C55-A327-309EFA22D1FE}" srcId="{7D3D4CE9-386E-4D57-B293-6089E574A4E8}" destId="{035E2433-47C6-4CE2-8C95-2A49EE147879}" srcOrd="2" destOrd="0" parTransId="{181EF0CD-5BA0-4329-9DBD-AED7E3C226CD}" sibTransId="{FA9FB0EB-9679-4164-B438-2E6B3BB701E3}"/>
    <dgm:cxn modelId="{08D93748-3E3F-479C-8F95-1A305482991E}" type="presOf" srcId="{035E2433-47C6-4CE2-8C95-2A49EE147879}" destId="{A0D63EE3-C057-49EB-AA3E-E35ABC98184B}" srcOrd="0" destOrd="0" presId="urn:microsoft.com/office/officeart/2005/8/layout/default"/>
    <dgm:cxn modelId="{F5E7E187-2E8E-4241-BD6F-2C1DC4FA596F}" type="presOf" srcId="{03B827B7-D2FD-4DF4-8B95-152424EB8F8D}" destId="{722742F7-288F-4A20-8C5B-5B01190102B6}" srcOrd="0" destOrd="0" presId="urn:microsoft.com/office/officeart/2005/8/layout/default"/>
    <dgm:cxn modelId="{23154CB5-F3AF-4BF7-845E-DBA6C3B37624}" type="presParOf" srcId="{C38FA992-AB4E-4CE2-8D05-89C7BED94963}" destId="{9A880907-4661-4F6D-BC36-19F2058A5676}" srcOrd="0" destOrd="0" presId="urn:microsoft.com/office/officeart/2005/8/layout/default"/>
    <dgm:cxn modelId="{3B87E131-0F7F-45EB-9344-D6D9048C4AEF}" type="presParOf" srcId="{C38FA992-AB4E-4CE2-8D05-89C7BED94963}" destId="{007876E1-92CD-4142-BD47-69FFC69EE455}" srcOrd="1" destOrd="0" presId="urn:microsoft.com/office/officeart/2005/8/layout/default"/>
    <dgm:cxn modelId="{DD9EF7A7-CB6B-4533-B100-A282715DD5A5}" type="presParOf" srcId="{C38FA992-AB4E-4CE2-8D05-89C7BED94963}" destId="{722742F7-288F-4A20-8C5B-5B01190102B6}" srcOrd="2" destOrd="0" presId="urn:microsoft.com/office/officeart/2005/8/layout/default"/>
    <dgm:cxn modelId="{8FA0111A-26AC-4ABC-B97B-9104424CF7AB}" type="presParOf" srcId="{C38FA992-AB4E-4CE2-8D05-89C7BED94963}" destId="{508EDC6F-CDF5-42EA-BFAB-7C8486C11921}" srcOrd="3" destOrd="0" presId="urn:microsoft.com/office/officeart/2005/8/layout/default"/>
    <dgm:cxn modelId="{7BC80281-C78F-40ED-B131-CB0E0FD84CB9}" type="presParOf" srcId="{C38FA992-AB4E-4CE2-8D05-89C7BED94963}" destId="{A0D63EE3-C057-49EB-AA3E-E35ABC98184B}" srcOrd="4" destOrd="0" presId="urn:microsoft.com/office/officeart/2005/8/layout/default"/>
    <dgm:cxn modelId="{D1AC4F05-795E-48C0-9F33-7E2AFBEE6456}" type="presParOf" srcId="{C38FA992-AB4E-4CE2-8D05-89C7BED94963}" destId="{BD945492-2CBE-4B47-A7D6-9ED4A0D7D4BE}" srcOrd="5" destOrd="0" presId="urn:microsoft.com/office/officeart/2005/8/layout/default"/>
    <dgm:cxn modelId="{BA5786FD-4C1E-447E-96AE-8E271D38B8B6}" type="presParOf" srcId="{C38FA992-AB4E-4CE2-8D05-89C7BED94963}" destId="{4F2D6526-8CFC-4811-8F7A-4252BEE3902C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C97F40-3B4A-49B2-8A52-C08B8ABE05DE}" type="doc">
      <dgm:prSet loTypeId="urn:microsoft.com/office/officeart/2005/8/layout/bProcess3" loCatId="process" qsTypeId="urn:microsoft.com/office/officeart/2005/8/quickstyle/3d4" qsCatId="3D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91DC61EA-2D5E-4180-BF68-AAFF74E0EFB3}">
      <dgm:prSet phldrT="[Texte]" phldr="0"/>
      <dgm:spPr/>
      <dgm:t>
        <a:bodyPr/>
        <a:lstStyle/>
        <a:p>
          <a:r>
            <a:rPr lang="fr-FR" dirty="0"/>
            <a:t>Importation</a:t>
          </a:r>
        </a:p>
      </dgm:t>
    </dgm:pt>
    <dgm:pt modelId="{CA42834E-20CF-4D58-B798-E1F7826F4EC7}" type="parTrans" cxnId="{DA972768-DC0D-49D0-A0A9-0C0753B5091B}">
      <dgm:prSet/>
      <dgm:spPr/>
      <dgm:t>
        <a:bodyPr/>
        <a:lstStyle/>
        <a:p>
          <a:endParaRPr lang="fr-FR"/>
        </a:p>
      </dgm:t>
    </dgm:pt>
    <dgm:pt modelId="{9E4BBF70-E357-41FC-918E-EECE2D536B01}" type="sibTrans" cxnId="{DA972768-DC0D-49D0-A0A9-0C0753B5091B}">
      <dgm:prSet/>
      <dgm:spPr/>
      <dgm:t>
        <a:bodyPr/>
        <a:lstStyle/>
        <a:p>
          <a:endParaRPr lang="fr-FR"/>
        </a:p>
      </dgm:t>
    </dgm:pt>
    <dgm:pt modelId="{69F8D10C-48A5-4D39-A66E-565B166870DF}">
      <dgm:prSet phldrT="[Texte]" phldr="0"/>
      <dgm:spPr/>
      <dgm:t>
        <a:bodyPr/>
        <a:lstStyle/>
        <a:p>
          <a:r>
            <a:rPr lang="fr-FR" dirty="0"/>
            <a:t>Data </a:t>
          </a:r>
          <a:r>
            <a:rPr lang="fr-FR" dirty="0" err="1"/>
            <a:t>cleaning</a:t>
          </a:r>
          <a:endParaRPr lang="fr-FR" dirty="0"/>
        </a:p>
      </dgm:t>
    </dgm:pt>
    <dgm:pt modelId="{A4BFA96A-B724-40C7-906C-EC89C1765393}" type="parTrans" cxnId="{5193CA77-720B-4A4C-A1E6-F4CD3AC9D58F}">
      <dgm:prSet/>
      <dgm:spPr/>
      <dgm:t>
        <a:bodyPr/>
        <a:lstStyle/>
        <a:p>
          <a:endParaRPr lang="fr-FR"/>
        </a:p>
      </dgm:t>
    </dgm:pt>
    <dgm:pt modelId="{7ACF1EF0-E778-47CC-8008-F52964780E62}" type="sibTrans" cxnId="{5193CA77-720B-4A4C-A1E6-F4CD3AC9D58F}">
      <dgm:prSet/>
      <dgm:spPr/>
      <dgm:t>
        <a:bodyPr/>
        <a:lstStyle/>
        <a:p>
          <a:endParaRPr lang="fr-FR"/>
        </a:p>
      </dgm:t>
    </dgm:pt>
    <dgm:pt modelId="{68663DF7-94BB-4C44-ADD2-2686BF040C5B}">
      <dgm:prSet phldrT="[Texte]" phldr="0"/>
      <dgm:spPr/>
      <dgm:t>
        <a:bodyPr/>
        <a:lstStyle/>
        <a:p>
          <a:r>
            <a:rPr lang="fr-FR" dirty="0"/>
            <a:t>Transformation</a:t>
          </a:r>
        </a:p>
      </dgm:t>
    </dgm:pt>
    <dgm:pt modelId="{EE5DF350-68BE-417F-8C96-EEF70808F4FD}" type="parTrans" cxnId="{B201EF5B-37E7-4AB6-ACF3-FD3FAD098866}">
      <dgm:prSet/>
      <dgm:spPr/>
      <dgm:t>
        <a:bodyPr/>
        <a:lstStyle/>
        <a:p>
          <a:endParaRPr lang="fr-FR"/>
        </a:p>
      </dgm:t>
    </dgm:pt>
    <dgm:pt modelId="{CADF4FDE-708B-4002-80BA-9115BAE0D6D9}" type="sibTrans" cxnId="{B201EF5B-37E7-4AB6-ACF3-FD3FAD098866}">
      <dgm:prSet/>
      <dgm:spPr/>
      <dgm:t>
        <a:bodyPr/>
        <a:lstStyle/>
        <a:p>
          <a:endParaRPr lang="fr-FR"/>
        </a:p>
      </dgm:t>
    </dgm:pt>
    <dgm:pt modelId="{50B76999-89B6-47DB-9B8D-8BCCAD34F169}">
      <dgm:prSet phldrT="[Texte]" phldr="0"/>
      <dgm:spPr/>
      <dgm:t>
        <a:bodyPr/>
        <a:lstStyle/>
        <a:p>
          <a:r>
            <a:rPr lang="fr-FR" dirty="0"/>
            <a:t>Jointure</a:t>
          </a:r>
        </a:p>
      </dgm:t>
    </dgm:pt>
    <dgm:pt modelId="{7A1203E7-49E2-4E6C-AAA5-948FF4D4BEB4}" type="parTrans" cxnId="{BC57CDE7-C4AD-4C26-88E7-0ADB864B19DA}">
      <dgm:prSet/>
      <dgm:spPr/>
      <dgm:t>
        <a:bodyPr/>
        <a:lstStyle/>
        <a:p>
          <a:endParaRPr lang="fr-FR"/>
        </a:p>
      </dgm:t>
    </dgm:pt>
    <dgm:pt modelId="{8E679477-167D-4AE3-8ACD-4DB3A699F3DC}" type="sibTrans" cxnId="{BC57CDE7-C4AD-4C26-88E7-0ADB864B19DA}">
      <dgm:prSet/>
      <dgm:spPr/>
      <dgm:t>
        <a:bodyPr/>
        <a:lstStyle/>
        <a:p>
          <a:endParaRPr lang="fr-FR"/>
        </a:p>
      </dgm:t>
    </dgm:pt>
    <dgm:pt modelId="{CC6028EA-71FA-4190-805C-30A27F5052D7}">
      <dgm:prSet phldrT="[Texte]" phldr="0"/>
      <dgm:spPr/>
      <dgm:t>
        <a:bodyPr/>
        <a:lstStyle/>
        <a:p>
          <a:r>
            <a:rPr lang="fr-FR" dirty="0"/>
            <a:t>Analyse</a:t>
          </a:r>
        </a:p>
      </dgm:t>
    </dgm:pt>
    <dgm:pt modelId="{80503C33-9105-4F1E-8385-A0EAAFE81B69}" type="parTrans" cxnId="{1E62DD8B-0433-4F2B-B72B-110227D9C45F}">
      <dgm:prSet/>
      <dgm:spPr/>
      <dgm:t>
        <a:bodyPr/>
        <a:lstStyle/>
        <a:p>
          <a:endParaRPr lang="fr-FR"/>
        </a:p>
      </dgm:t>
    </dgm:pt>
    <dgm:pt modelId="{E4897B17-DF37-4F5B-8491-E810F675AD72}" type="sibTrans" cxnId="{1E62DD8B-0433-4F2B-B72B-110227D9C45F}">
      <dgm:prSet/>
      <dgm:spPr/>
      <dgm:t>
        <a:bodyPr/>
        <a:lstStyle/>
        <a:p>
          <a:endParaRPr lang="fr-FR"/>
        </a:p>
      </dgm:t>
    </dgm:pt>
    <dgm:pt modelId="{306ABEAC-AF3F-41D6-A4E7-ABC56A7E494D}" type="pres">
      <dgm:prSet presAssocID="{BFC97F40-3B4A-49B2-8A52-C08B8ABE05DE}" presName="Name0" presStyleCnt="0">
        <dgm:presLayoutVars>
          <dgm:dir/>
          <dgm:resizeHandles val="exact"/>
        </dgm:presLayoutVars>
      </dgm:prSet>
      <dgm:spPr/>
    </dgm:pt>
    <dgm:pt modelId="{A4A535E9-4039-4968-8674-72336610CA7C}" type="pres">
      <dgm:prSet presAssocID="{91DC61EA-2D5E-4180-BF68-AAFF74E0EFB3}" presName="node" presStyleLbl="node1" presStyleIdx="0" presStyleCnt="5">
        <dgm:presLayoutVars>
          <dgm:bulletEnabled val="1"/>
        </dgm:presLayoutVars>
      </dgm:prSet>
      <dgm:spPr/>
    </dgm:pt>
    <dgm:pt modelId="{90518BF1-D41F-4EBC-B071-98597705F514}" type="pres">
      <dgm:prSet presAssocID="{9E4BBF70-E357-41FC-918E-EECE2D536B01}" presName="sibTrans" presStyleLbl="sibTrans1D1" presStyleIdx="0" presStyleCnt="4"/>
      <dgm:spPr/>
    </dgm:pt>
    <dgm:pt modelId="{88B12039-AD47-4BA0-9DFA-99022735D41C}" type="pres">
      <dgm:prSet presAssocID="{9E4BBF70-E357-41FC-918E-EECE2D536B01}" presName="connectorText" presStyleLbl="sibTrans1D1" presStyleIdx="0" presStyleCnt="4"/>
      <dgm:spPr/>
    </dgm:pt>
    <dgm:pt modelId="{E9A1C54A-FC53-4AB5-AC10-87A079E3F80E}" type="pres">
      <dgm:prSet presAssocID="{69F8D10C-48A5-4D39-A66E-565B166870DF}" presName="node" presStyleLbl="node1" presStyleIdx="1" presStyleCnt="5">
        <dgm:presLayoutVars>
          <dgm:bulletEnabled val="1"/>
        </dgm:presLayoutVars>
      </dgm:prSet>
      <dgm:spPr/>
    </dgm:pt>
    <dgm:pt modelId="{5A050D24-4D5C-427F-8C9B-93C8E9CF4144}" type="pres">
      <dgm:prSet presAssocID="{7ACF1EF0-E778-47CC-8008-F52964780E62}" presName="sibTrans" presStyleLbl="sibTrans1D1" presStyleIdx="1" presStyleCnt="4"/>
      <dgm:spPr/>
    </dgm:pt>
    <dgm:pt modelId="{72A903D2-C381-4DE0-B062-A283CFFE230D}" type="pres">
      <dgm:prSet presAssocID="{7ACF1EF0-E778-47CC-8008-F52964780E62}" presName="connectorText" presStyleLbl="sibTrans1D1" presStyleIdx="1" presStyleCnt="4"/>
      <dgm:spPr/>
    </dgm:pt>
    <dgm:pt modelId="{2E975D66-A264-44F8-8B2A-B6FE15B4341B}" type="pres">
      <dgm:prSet presAssocID="{68663DF7-94BB-4C44-ADD2-2686BF040C5B}" presName="node" presStyleLbl="node1" presStyleIdx="2" presStyleCnt="5">
        <dgm:presLayoutVars>
          <dgm:bulletEnabled val="1"/>
        </dgm:presLayoutVars>
      </dgm:prSet>
      <dgm:spPr/>
    </dgm:pt>
    <dgm:pt modelId="{7B5E2B50-AC90-4682-9A18-C9BEE269DDEE}" type="pres">
      <dgm:prSet presAssocID="{CADF4FDE-708B-4002-80BA-9115BAE0D6D9}" presName="sibTrans" presStyleLbl="sibTrans1D1" presStyleIdx="2" presStyleCnt="4"/>
      <dgm:spPr/>
    </dgm:pt>
    <dgm:pt modelId="{AD5C136D-28A7-44FF-8781-F69E38BC7D41}" type="pres">
      <dgm:prSet presAssocID="{CADF4FDE-708B-4002-80BA-9115BAE0D6D9}" presName="connectorText" presStyleLbl="sibTrans1D1" presStyleIdx="2" presStyleCnt="4"/>
      <dgm:spPr/>
    </dgm:pt>
    <dgm:pt modelId="{4F2F0264-C122-4D25-88EA-9F4FAA024182}" type="pres">
      <dgm:prSet presAssocID="{50B76999-89B6-47DB-9B8D-8BCCAD34F169}" presName="node" presStyleLbl="node1" presStyleIdx="3" presStyleCnt="5">
        <dgm:presLayoutVars>
          <dgm:bulletEnabled val="1"/>
        </dgm:presLayoutVars>
      </dgm:prSet>
      <dgm:spPr/>
    </dgm:pt>
    <dgm:pt modelId="{5EBD4D89-9CCB-4452-9248-5C8F3FA7AF91}" type="pres">
      <dgm:prSet presAssocID="{8E679477-167D-4AE3-8ACD-4DB3A699F3DC}" presName="sibTrans" presStyleLbl="sibTrans1D1" presStyleIdx="3" presStyleCnt="4"/>
      <dgm:spPr/>
    </dgm:pt>
    <dgm:pt modelId="{C266E79A-1BCD-4735-A1F3-EFE7FBD71297}" type="pres">
      <dgm:prSet presAssocID="{8E679477-167D-4AE3-8ACD-4DB3A699F3DC}" presName="connectorText" presStyleLbl="sibTrans1D1" presStyleIdx="3" presStyleCnt="4"/>
      <dgm:spPr/>
    </dgm:pt>
    <dgm:pt modelId="{DC70B690-A9A9-4349-9A2E-1CEC35B09DCF}" type="pres">
      <dgm:prSet presAssocID="{CC6028EA-71FA-4190-805C-30A27F5052D7}" presName="node" presStyleLbl="node1" presStyleIdx="4" presStyleCnt="5">
        <dgm:presLayoutVars>
          <dgm:bulletEnabled val="1"/>
        </dgm:presLayoutVars>
      </dgm:prSet>
      <dgm:spPr/>
    </dgm:pt>
  </dgm:ptLst>
  <dgm:cxnLst>
    <dgm:cxn modelId="{CC327215-8DB3-4DA8-9AA1-2790DBB53901}" type="presOf" srcId="{91DC61EA-2D5E-4180-BF68-AAFF74E0EFB3}" destId="{A4A535E9-4039-4968-8674-72336610CA7C}" srcOrd="0" destOrd="0" presId="urn:microsoft.com/office/officeart/2005/8/layout/bProcess3"/>
    <dgm:cxn modelId="{DE410117-775B-4F8D-9AB5-089B13969614}" type="presOf" srcId="{9E4BBF70-E357-41FC-918E-EECE2D536B01}" destId="{88B12039-AD47-4BA0-9DFA-99022735D41C}" srcOrd="1" destOrd="0" presId="urn:microsoft.com/office/officeart/2005/8/layout/bProcess3"/>
    <dgm:cxn modelId="{0DF5EF19-46F6-4D37-8851-936393AB1B7B}" type="presOf" srcId="{68663DF7-94BB-4C44-ADD2-2686BF040C5B}" destId="{2E975D66-A264-44F8-8B2A-B6FE15B4341B}" srcOrd="0" destOrd="0" presId="urn:microsoft.com/office/officeart/2005/8/layout/bProcess3"/>
    <dgm:cxn modelId="{11FCB81F-F47F-4C47-A5E2-C1DD94D040BE}" type="presOf" srcId="{50B76999-89B6-47DB-9B8D-8BCCAD34F169}" destId="{4F2F0264-C122-4D25-88EA-9F4FAA024182}" srcOrd="0" destOrd="0" presId="urn:microsoft.com/office/officeart/2005/8/layout/bProcess3"/>
    <dgm:cxn modelId="{6D675934-4370-48E0-9D9A-55F42A5BB051}" type="presOf" srcId="{9E4BBF70-E357-41FC-918E-EECE2D536B01}" destId="{90518BF1-D41F-4EBC-B071-98597705F514}" srcOrd="0" destOrd="0" presId="urn:microsoft.com/office/officeart/2005/8/layout/bProcess3"/>
    <dgm:cxn modelId="{B201EF5B-37E7-4AB6-ACF3-FD3FAD098866}" srcId="{BFC97F40-3B4A-49B2-8A52-C08B8ABE05DE}" destId="{68663DF7-94BB-4C44-ADD2-2686BF040C5B}" srcOrd="2" destOrd="0" parTransId="{EE5DF350-68BE-417F-8C96-EEF70808F4FD}" sibTransId="{CADF4FDE-708B-4002-80BA-9115BAE0D6D9}"/>
    <dgm:cxn modelId="{DA972768-DC0D-49D0-A0A9-0C0753B5091B}" srcId="{BFC97F40-3B4A-49B2-8A52-C08B8ABE05DE}" destId="{91DC61EA-2D5E-4180-BF68-AAFF74E0EFB3}" srcOrd="0" destOrd="0" parTransId="{CA42834E-20CF-4D58-B798-E1F7826F4EC7}" sibTransId="{9E4BBF70-E357-41FC-918E-EECE2D536B01}"/>
    <dgm:cxn modelId="{3FD81F76-5759-4D09-BE81-53F6CE0C4B8D}" type="presOf" srcId="{CADF4FDE-708B-4002-80BA-9115BAE0D6D9}" destId="{7B5E2B50-AC90-4682-9A18-C9BEE269DDEE}" srcOrd="0" destOrd="0" presId="urn:microsoft.com/office/officeart/2005/8/layout/bProcess3"/>
    <dgm:cxn modelId="{5193CA77-720B-4A4C-A1E6-F4CD3AC9D58F}" srcId="{BFC97F40-3B4A-49B2-8A52-C08B8ABE05DE}" destId="{69F8D10C-48A5-4D39-A66E-565B166870DF}" srcOrd="1" destOrd="0" parTransId="{A4BFA96A-B724-40C7-906C-EC89C1765393}" sibTransId="{7ACF1EF0-E778-47CC-8008-F52964780E62}"/>
    <dgm:cxn modelId="{8A5BE57F-3818-47C0-8A46-8DD635E39BD3}" type="presOf" srcId="{8E679477-167D-4AE3-8ACD-4DB3A699F3DC}" destId="{5EBD4D89-9CCB-4452-9248-5C8F3FA7AF91}" srcOrd="0" destOrd="0" presId="urn:microsoft.com/office/officeart/2005/8/layout/bProcess3"/>
    <dgm:cxn modelId="{660ED880-0F67-4C8C-8EFD-196D3A8C1549}" type="presOf" srcId="{7ACF1EF0-E778-47CC-8008-F52964780E62}" destId="{5A050D24-4D5C-427F-8C9B-93C8E9CF4144}" srcOrd="0" destOrd="0" presId="urn:microsoft.com/office/officeart/2005/8/layout/bProcess3"/>
    <dgm:cxn modelId="{1E62DD8B-0433-4F2B-B72B-110227D9C45F}" srcId="{BFC97F40-3B4A-49B2-8A52-C08B8ABE05DE}" destId="{CC6028EA-71FA-4190-805C-30A27F5052D7}" srcOrd="4" destOrd="0" parTransId="{80503C33-9105-4F1E-8385-A0EAAFE81B69}" sibTransId="{E4897B17-DF37-4F5B-8491-E810F675AD72}"/>
    <dgm:cxn modelId="{E589BDB5-F0A5-4F55-B1F2-6904B1761F6C}" type="presOf" srcId="{8E679477-167D-4AE3-8ACD-4DB3A699F3DC}" destId="{C266E79A-1BCD-4735-A1F3-EFE7FBD71297}" srcOrd="1" destOrd="0" presId="urn:microsoft.com/office/officeart/2005/8/layout/bProcess3"/>
    <dgm:cxn modelId="{7ADF32D8-829D-4E32-B7A6-E04E4A5A1E51}" type="presOf" srcId="{CADF4FDE-708B-4002-80BA-9115BAE0D6D9}" destId="{AD5C136D-28A7-44FF-8781-F69E38BC7D41}" srcOrd="1" destOrd="0" presId="urn:microsoft.com/office/officeart/2005/8/layout/bProcess3"/>
    <dgm:cxn modelId="{D37832DC-6863-40EC-934A-40CEEA42E69B}" type="presOf" srcId="{CC6028EA-71FA-4190-805C-30A27F5052D7}" destId="{DC70B690-A9A9-4349-9A2E-1CEC35B09DCF}" srcOrd="0" destOrd="0" presId="urn:microsoft.com/office/officeart/2005/8/layout/bProcess3"/>
    <dgm:cxn modelId="{0F5B62E3-D420-4325-8E6E-7921EE0FCC49}" type="presOf" srcId="{BFC97F40-3B4A-49B2-8A52-C08B8ABE05DE}" destId="{306ABEAC-AF3F-41D6-A4E7-ABC56A7E494D}" srcOrd="0" destOrd="0" presId="urn:microsoft.com/office/officeart/2005/8/layout/bProcess3"/>
    <dgm:cxn modelId="{BACA42E6-078E-461F-BA53-1413711C43DE}" type="presOf" srcId="{7ACF1EF0-E778-47CC-8008-F52964780E62}" destId="{72A903D2-C381-4DE0-B062-A283CFFE230D}" srcOrd="1" destOrd="0" presId="urn:microsoft.com/office/officeart/2005/8/layout/bProcess3"/>
    <dgm:cxn modelId="{BC57CDE7-C4AD-4C26-88E7-0ADB864B19DA}" srcId="{BFC97F40-3B4A-49B2-8A52-C08B8ABE05DE}" destId="{50B76999-89B6-47DB-9B8D-8BCCAD34F169}" srcOrd="3" destOrd="0" parTransId="{7A1203E7-49E2-4E6C-AAA5-948FF4D4BEB4}" sibTransId="{8E679477-167D-4AE3-8ACD-4DB3A699F3DC}"/>
    <dgm:cxn modelId="{AA0D50FF-E7A7-4280-AB68-4EA56B4720EA}" type="presOf" srcId="{69F8D10C-48A5-4D39-A66E-565B166870DF}" destId="{E9A1C54A-FC53-4AB5-AC10-87A079E3F80E}" srcOrd="0" destOrd="0" presId="urn:microsoft.com/office/officeart/2005/8/layout/bProcess3"/>
    <dgm:cxn modelId="{45A87210-339C-4254-952B-D86E5AFC7CC8}" type="presParOf" srcId="{306ABEAC-AF3F-41D6-A4E7-ABC56A7E494D}" destId="{A4A535E9-4039-4968-8674-72336610CA7C}" srcOrd="0" destOrd="0" presId="urn:microsoft.com/office/officeart/2005/8/layout/bProcess3"/>
    <dgm:cxn modelId="{B3FF19EC-0273-4D5F-B1C8-281647892623}" type="presParOf" srcId="{306ABEAC-AF3F-41D6-A4E7-ABC56A7E494D}" destId="{90518BF1-D41F-4EBC-B071-98597705F514}" srcOrd="1" destOrd="0" presId="urn:microsoft.com/office/officeart/2005/8/layout/bProcess3"/>
    <dgm:cxn modelId="{E7AC6C30-2D27-4C45-A8AD-4BF69FF767F7}" type="presParOf" srcId="{90518BF1-D41F-4EBC-B071-98597705F514}" destId="{88B12039-AD47-4BA0-9DFA-99022735D41C}" srcOrd="0" destOrd="0" presId="urn:microsoft.com/office/officeart/2005/8/layout/bProcess3"/>
    <dgm:cxn modelId="{656E3E95-B853-4A10-A6BC-5A8748818DB1}" type="presParOf" srcId="{306ABEAC-AF3F-41D6-A4E7-ABC56A7E494D}" destId="{E9A1C54A-FC53-4AB5-AC10-87A079E3F80E}" srcOrd="2" destOrd="0" presId="urn:microsoft.com/office/officeart/2005/8/layout/bProcess3"/>
    <dgm:cxn modelId="{B6EB40DC-6361-488B-8B8C-0F910DD341BB}" type="presParOf" srcId="{306ABEAC-AF3F-41D6-A4E7-ABC56A7E494D}" destId="{5A050D24-4D5C-427F-8C9B-93C8E9CF4144}" srcOrd="3" destOrd="0" presId="urn:microsoft.com/office/officeart/2005/8/layout/bProcess3"/>
    <dgm:cxn modelId="{894266F5-2F45-45DC-A098-42C2ACFBE772}" type="presParOf" srcId="{5A050D24-4D5C-427F-8C9B-93C8E9CF4144}" destId="{72A903D2-C381-4DE0-B062-A283CFFE230D}" srcOrd="0" destOrd="0" presId="urn:microsoft.com/office/officeart/2005/8/layout/bProcess3"/>
    <dgm:cxn modelId="{DAB3022F-F217-4AFB-AD36-06B43DF04956}" type="presParOf" srcId="{306ABEAC-AF3F-41D6-A4E7-ABC56A7E494D}" destId="{2E975D66-A264-44F8-8B2A-B6FE15B4341B}" srcOrd="4" destOrd="0" presId="urn:microsoft.com/office/officeart/2005/8/layout/bProcess3"/>
    <dgm:cxn modelId="{F843F0B9-A2E4-4E85-8F9B-5039E6F9933A}" type="presParOf" srcId="{306ABEAC-AF3F-41D6-A4E7-ABC56A7E494D}" destId="{7B5E2B50-AC90-4682-9A18-C9BEE269DDEE}" srcOrd="5" destOrd="0" presId="urn:microsoft.com/office/officeart/2005/8/layout/bProcess3"/>
    <dgm:cxn modelId="{F7087C0F-7A8F-41B4-AC99-5CC0B4E1FFBC}" type="presParOf" srcId="{7B5E2B50-AC90-4682-9A18-C9BEE269DDEE}" destId="{AD5C136D-28A7-44FF-8781-F69E38BC7D41}" srcOrd="0" destOrd="0" presId="urn:microsoft.com/office/officeart/2005/8/layout/bProcess3"/>
    <dgm:cxn modelId="{D08D70A6-5D76-437C-91C0-1942E83CEEA9}" type="presParOf" srcId="{306ABEAC-AF3F-41D6-A4E7-ABC56A7E494D}" destId="{4F2F0264-C122-4D25-88EA-9F4FAA024182}" srcOrd="6" destOrd="0" presId="urn:microsoft.com/office/officeart/2005/8/layout/bProcess3"/>
    <dgm:cxn modelId="{EED8EB38-7F71-4BE1-8321-736783E16083}" type="presParOf" srcId="{306ABEAC-AF3F-41D6-A4E7-ABC56A7E494D}" destId="{5EBD4D89-9CCB-4452-9248-5C8F3FA7AF91}" srcOrd="7" destOrd="0" presId="urn:microsoft.com/office/officeart/2005/8/layout/bProcess3"/>
    <dgm:cxn modelId="{A08803CF-6D90-4B0B-AC28-8EA3709F469F}" type="presParOf" srcId="{5EBD4D89-9CCB-4452-9248-5C8F3FA7AF91}" destId="{C266E79A-1BCD-4735-A1F3-EFE7FBD71297}" srcOrd="0" destOrd="0" presId="urn:microsoft.com/office/officeart/2005/8/layout/bProcess3"/>
    <dgm:cxn modelId="{D1A79B1E-1689-4DA1-8C31-9CFEE405047F}" type="presParOf" srcId="{306ABEAC-AF3F-41D6-A4E7-ABC56A7E494D}" destId="{DC70B690-A9A9-4349-9A2E-1CEC35B09DCF}" srcOrd="8" destOrd="0" presId="urn:microsoft.com/office/officeart/2005/8/layout/b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880907-4661-4F6D-BC36-19F2058A5676}">
      <dsp:nvSpPr>
        <dsp:cNvPr id="0" name=""/>
        <dsp:cNvSpPr/>
      </dsp:nvSpPr>
      <dsp:spPr>
        <a:xfrm>
          <a:off x="521" y="101951"/>
          <a:ext cx="2032085" cy="1219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Population</a:t>
          </a:r>
        </a:p>
      </dsp:txBody>
      <dsp:txXfrm>
        <a:off x="521" y="101951"/>
        <a:ext cx="2032085" cy="1219251"/>
      </dsp:txXfrm>
    </dsp:sp>
    <dsp:sp modelId="{722742F7-288F-4A20-8C5B-5B01190102B6}">
      <dsp:nvSpPr>
        <dsp:cNvPr id="0" name=""/>
        <dsp:cNvSpPr/>
      </dsp:nvSpPr>
      <dsp:spPr>
        <a:xfrm>
          <a:off x="2235815" y="101951"/>
          <a:ext cx="2032085" cy="1219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 err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Dispo.Alimentaire</a:t>
          </a:r>
          <a:endParaRPr lang="fr-FR" sz="17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2235815" y="101951"/>
        <a:ext cx="2032085" cy="1219251"/>
      </dsp:txXfrm>
    </dsp:sp>
    <dsp:sp modelId="{A0D63EE3-C057-49EB-AA3E-E35ABC98184B}">
      <dsp:nvSpPr>
        <dsp:cNvPr id="0" name=""/>
        <dsp:cNvSpPr/>
      </dsp:nvSpPr>
      <dsp:spPr>
        <a:xfrm>
          <a:off x="521" y="1524411"/>
          <a:ext cx="2032085" cy="1219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Aide Alimentaire</a:t>
          </a:r>
        </a:p>
      </dsp:txBody>
      <dsp:txXfrm>
        <a:off x="521" y="1524411"/>
        <a:ext cx="2032085" cy="1219251"/>
      </dsp:txXfrm>
    </dsp:sp>
    <dsp:sp modelId="{4F2D6526-8CFC-4811-8F7A-4252BEE3902C}">
      <dsp:nvSpPr>
        <dsp:cNvPr id="0" name=""/>
        <dsp:cNvSpPr/>
      </dsp:nvSpPr>
      <dsp:spPr>
        <a:xfrm>
          <a:off x="2236336" y="1500721"/>
          <a:ext cx="2032085" cy="12192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7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Sous nutrition</a:t>
          </a:r>
        </a:p>
      </dsp:txBody>
      <dsp:txXfrm>
        <a:off x="2236336" y="1500721"/>
        <a:ext cx="2032085" cy="121925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518BF1-D41F-4EBC-B071-98597705F514}">
      <dsp:nvSpPr>
        <dsp:cNvPr id="0" name=""/>
        <dsp:cNvSpPr/>
      </dsp:nvSpPr>
      <dsp:spPr>
        <a:xfrm>
          <a:off x="1942197" y="1078283"/>
          <a:ext cx="415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3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138716" y="1121773"/>
        <a:ext cx="22296" cy="4459"/>
      </dsp:txXfrm>
    </dsp:sp>
    <dsp:sp modelId="{A4A535E9-4039-4968-8674-72336610CA7C}">
      <dsp:nvSpPr>
        <dsp:cNvPr id="0" name=""/>
        <dsp:cNvSpPr/>
      </dsp:nvSpPr>
      <dsp:spPr>
        <a:xfrm>
          <a:off x="5150" y="542349"/>
          <a:ext cx="1938846" cy="11633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Importation</a:t>
          </a:r>
        </a:p>
      </dsp:txBody>
      <dsp:txXfrm>
        <a:off x="5150" y="542349"/>
        <a:ext cx="1938846" cy="1163307"/>
      </dsp:txXfrm>
    </dsp:sp>
    <dsp:sp modelId="{5A050D24-4D5C-427F-8C9B-93C8E9CF4144}">
      <dsp:nvSpPr>
        <dsp:cNvPr id="0" name=""/>
        <dsp:cNvSpPr/>
      </dsp:nvSpPr>
      <dsp:spPr>
        <a:xfrm>
          <a:off x="4326978" y="1078283"/>
          <a:ext cx="415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3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4523497" y="1121773"/>
        <a:ext cx="22296" cy="4459"/>
      </dsp:txXfrm>
    </dsp:sp>
    <dsp:sp modelId="{E9A1C54A-FC53-4AB5-AC10-87A079E3F80E}">
      <dsp:nvSpPr>
        <dsp:cNvPr id="0" name=""/>
        <dsp:cNvSpPr/>
      </dsp:nvSpPr>
      <dsp:spPr>
        <a:xfrm>
          <a:off x="2389931" y="542349"/>
          <a:ext cx="1938846" cy="11633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Data </a:t>
          </a:r>
          <a:r>
            <a:rPr lang="fr-FR" sz="1900" kern="1200" dirty="0" err="1"/>
            <a:t>cleaning</a:t>
          </a:r>
          <a:endParaRPr lang="fr-FR" sz="1900" kern="1200" dirty="0"/>
        </a:p>
      </dsp:txBody>
      <dsp:txXfrm>
        <a:off x="2389931" y="542349"/>
        <a:ext cx="1938846" cy="1163307"/>
      </dsp:txXfrm>
    </dsp:sp>
    <dsp:sp modelId="{7B5E2B50-AC90-4682-9A18-C9BEE269DDEE}">
      <dsp:nvSpPr>
        <dsp:cNvPr id="0" name=""/>
        <dsp:cNvSpPr/>
      </dsp:nvSpPr>
      <dsp:spPr>
        <a:xfrm>
          <a:off x="974573" y="1703857"/>
          <a:ext cx="4769562" cy="415334"/>
        </a:xfrm>
        <a:custGeom>
          <a:avLst/>
          <a:gdLst/>
          <a:ahLst/>
          <a:cxnLst/>
          <a:rect l="0" t="0" r="0" b="0"/>
          <a:pathLst>
            <a:path>
              <a:moveTo>
                <a:pt x="4769562" y="0"/>
              </a:moveTo>
              <a:lnTo>
                <a:pt x="4769562" y="224767"/>
              </a:lnTo>
              <a:lnTo>
                <a:pt x="0" y="224767"/>
              </a:lnTo>
              <a:lnTo>
                <a:pt x="0" y="415334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3239595" y="1909294"/>
        <a:ext cx="239518" cy="4459"/>
      </dsp:txXfrm>
    </dsp:sp>
    <dsp:sp modelId="{2E975D66-A264-44F8-8B2A-B6FE15B4341B}">
      <dsp:nvSpPr>
        <dsp:cNvPr id="0" name=""/>
        <dsp:cNvSpPr/>
      </dsp:nvSpPr>
      <dsp:spPr>
        <a:xfrm>
          <a:off x="4774712" y="542349"/>
          <a:ext cx="1938846" cy="11633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Transformation</a:t>
          </a:r>
        </a:p>
      </dsp:txBody>
      <dsp:txXfrm>
        <a:off x="4774712" y="542349"/>
        <a:ext cx="1938846" cy="1163307"/>
      </dsp:txXfrm>
    </dsp:sp>
    <dsp:sp modelId="{5EBD4D89-9CCB-4452-9248-5C8F3FA7AF91}">
      <dsp:nvSpPr>
        <dsp:cNvPr id="0" name=""/>
        <dsp:cNvSpPr/>
      </dsp:nvSpPr>
      <dsp:spPr>
        <a:xfrm>
          <a:off x="1942197" y="2687525"/>
          <a:ext cx="415334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5334" y="45720"/>
              </a:lnTo>
            </a:path>
          </a:pathLst>
        </a:custGeom>
        <a:noFill/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  <a:scene3d>
          <a:camera prst="orthographicFront"/>
          <a:lightRig rig="chilly" dir="t"/>
        </a:scene3d>
        <a:sp3d z="-40000" prstMaterial="matte"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500" kern="1200"/>
        </a:p>
      </dsp:txBody>
      <dsp:txXfrm>
        <a:off x="2138716" y="2731016"/>
        <a:ext cx="22296" cy="4459"/>
      </dsp:txXfrm>
    </dsp:sp>
    <dsp:sp modelId="{4F2F0264-C122-4D25-88EA-9F4FAA024182}">
      <dsp:nvSpPr>
        <dsp:cNvPr id="0" name=""/>
        <dsp:cNvSpPr/>
      </dsp:nvSpPr>
      <dsp:spPr>
        <a:xfrm>
          <a:off x="5150" y="2151591"/>
          <a:ext cx="1938846" cy="11633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Jointure</a:t>
          </a:r>
        </a:p>
      </dsp:txBody>
      <dsp:txXfrm>
        <a:off x="5150" y="2151591"/>
        <a:ext cx="1938846" cy="1163307"/>
      </dsp:txXfrm>
    </dsp:sp>
    <dsp:sp modelId="{DC70B690-A9A9-4349-9A2E-1CEC35B09DCF}">
      <dsp:nvSpPr>
        <dsp:cNvPr id="0" name=""/>
        <dsp:cNvSpPr/>
      </dsp:nvSpPr>
      <dsp:spPr>
        <a:xfrm>
          <a:off x="2389931" y="2151591"/>
          <a:ext cx="1938846" cy="116330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/>
          <a:lightRig rig="chilly" dir="t"/>
        </a:scene3d>
        <a:sp3d prstMaterial="translucentPowder">
          <a:bevelT w="127000" h="25400" prst="softRound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/>
            <a:t>Analyse</a:t>
          </a:r>
        </a:p>
      </dsp:txBody>
      <dsp:txXfrm>
        <a:off x="2389931" y="2151591"/>
        <a:ext cx="1938846" cy="11633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bProcess3">
  <dgm:title val=""/>
  <dgm:desc val=""/>
  <dgm:catLst>
    <dgm:cat type="process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7" name="Google Shape;11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8" name="Google Shape;118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8" name="Google Shape;12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A4E7E98A-4C4E-3D0E-3ED2-390CDEE7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:notes">
            <a:extLst>
              <a:ext uri="{FF2B5EF4-FFF2-40B4-BE49-F238E27FC236}">
                <a16:creationId xmlns:a16="http://schemas.microsoft.com/office/drawing/2014/main" id="{614768CD-07B5-5D9B-AE13-FD0B154106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5" name="Google Shape;135;p3:notes">
            <a:extLst>
              <a:ext uri="{FF2B5EF4-FFF2-40B4-BE49-F238E27FC236}">
                <a16:creationId xmlns:a16="http://schemas.microsoft.com/office/drawing/2014/main" id="{1AE2AC1E-7A22-83A4-7A3F-98A9DA178E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46425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93593708-1DEE-DA16-2911-F41051E2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>
            <a:extLst>
              <a:ext uri="{FF2B5EF4-FFF2-40B4-BE49-F238E27FC236}">
                <a16:creationId xmlns:a16="http://schemas.microsoft.com/office/drawing/2014/main" id="{42B5676D-EE50-725F-57D5-980FA6A22F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0" name="Google Shape;150;p5:notes">
            <a:extLst>
              <a:ext uri="{FF2B5EF4-FFF2-40B4-BE49-F238E27FC236}">
                <a16:creationId xmlns:a16="http://schemas.microsoft.com/office/drawing/2014/main" id="{EB970BC0-AE14-A921-C2CC-862029CC2DD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23030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7" name="Google Shape;15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2" name="Google Shape;17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233f607d43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3" name="Google Shape;193;g2233f607d43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0" name="Google Shape;20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7" name="Google Shape;20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4" name="Google Shape;21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>
          <a:extLst>
            <a:ext uri="{FF2B5EF4-FFF2-40B4-BE49-F238E27FC236}">
              <a16:creationId xmlns:a16="http://schemas.microsoft.com/office/drawing/2014/main" id="{BE109691-3F0D-2270-BC2A-1806FCD14D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>
            <a:extLst>
              <a:ext uri="{FF2B5EF4-FFF2-40B4-BE49-F238E27FC236}">
                <a16:creationId xmlns:a16="http://schemas.microsoft.com/office/drawing/2014/main" id="{BFB673F5-BFCC-1D57-F824-AE268AA5AA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E662D945-7EFF-53AC-724E-95BE126CBE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209227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/>
          <p:nvPr/>
        </p:nvSpPr>
        <p:spPr>
          <a:xfrm>
            <a:off x="0" y="-3175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17" name="Google Shape;17;p17"/>
          <p:cNvSpPr txBox="1"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5400"/>
              <a:buFont typeface="Century Gothic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7"/>
          <p:cNvSpPr txBox="1"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8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/>
          <p:nvPr/>
        </p:nvSpPr>
        <p:spPr>
          <a:xfrm>
            <a:off x="0" y="1"/>
            <a:ext cx="12192000" cy="5203825"/>
          </a:xfrm>
          <a:custGeom>
            <a:avLst/>
            <a:gdLst/>
            <a:ahLst/>
            <a:cxnLst/>
            <a:rect l="l" t="t" r="r" b="b"/>
            <a:pathLst>
              <a:path w="5760" h="3278" extrusionOk="0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" name="Google Shape;31;p19"/>
          <p:cNvSpPr txBox="1"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800"/>
              <a:buFont typeface="Century Gothic"/>
              <a:buNone/>
              <a:defRPr sz="48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ux contenus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" name="Google Shape;38;p2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5185873" cy="36387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2"/>
          </p:nvPr>
        </p:nvSpPr>
        <p:spPr>
          <a:xfrm>
            <a:off x="6187415" y="2222287"/>
            <a:ext cx="5194583" cy="363876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1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body" idx="2"/>
          </p:nvPr>
        </p:nvSpPr>
        <p:spPr>
          <a:xfrm>
            <a:off x="814729" y="2751138"/>
            <a:ext cx="5189856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body" idx="3"/>
          </p:nvPr>
        </p:nvSpPr>
        <p:spPr>
          <a:xfrm>
            <a:off x="6187415" y="2174875"/>
            <a:ext cx="5194583" cy="57626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 b="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1"/>
          <p:cNvSpPr txBox="1">
            <a:spLocks noGrp="1"/>
          </p:cNvSpPr>
          <p:nvPr>
            <p:ph type="body" idx="4"/>
          </p:nvPr>
        </p:nvSpPr>
        <p:spPr>
          <a:xfrm>
            <a:off x="6187415" y="2751138"/>
            <a:ext cx="5194583" cy="310991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51" name="Google Shape;51;p21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1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1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" name="Google Shape;56;p2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2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3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4"/>
          <p:cNvSpPr/>
          <p:nvPr/>
        </p:nvSpPr>
        <p:spPr>
          <a:xfrm>
            <a:off x="1073151" y="446087"/>
            <a:ext cx="3547533" cy="1814651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24"/>
          <p:cNvSpPr txBox="1"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000"/>
              <a:buFont typeface="Century Gothic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body" idx="1"/>
          </p:nvPr>
        </p:nvSpPr>
        <p:spPr>
          <a:xfrm>
            <a:off x="4855633" y="446088"/>
            <a:ext cx="6252633" cy="54149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2"/>
          </p:nvPr>
        </p:nvSpPr>
        <p:spPr>
          <a:xfrm>
            <a:off x="1073151" y="2260738"/>
            <a:ext cx="3547533" cy="36003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>
            <a:spLocks noGrp="1"/>
          </p:cNvSpPr>
          <p:nvPr>
            <p:ph type="pic" idx="2"/>
          </p:nvPr>
        </p:nvSpPr>
        <p:spPr>
          <a:xfrm>
            <a:off x="6098117" y="0"/>
            <a:ext cx="6093883" cy="6858000"/>
          </a:xfrm>
          <a:prstGeom prst="rect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75" name="Google Shape;75;p25"/>
          <p:cNvSpPr txBox="1">
            <a:spLocks noGrp="1"/>
          </p:cNvSpPr>
          <p:nvPr>
            <p:ph type="body" idx="1"/>
          </p:nvPr>
        </p:nvSpPr>
        <p:spPr>
          <a:xfrm>
            <a:off x="814728" y="2344684"/>
            <a:ext cx="4852988" cy="35163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dt" idx="10"/>
          </p:nvPr>
        </p:nvSpPr>
        <p:spPr>
          <a:xfrm>
            <a:off x="3885810" y="6041362"/>
            <a:ext cx="9768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ftr" idx="11"/>
          </p:nvPr>
        </p:nvSpPr>
        <p:spPr>
          <a:xfrm>
            <a:off x="590396" y="6041362"/>
            <a:ext cx="329541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5"/>
          <p:cNvSpPr txBox="1">
            <a:spLocks noGrp="1"/>
          </p:cNvSpPr>
          <p:nvPr>
            <p:ph type="sldNum" idx="12"/>
          </p:nvPr>
        </p:nvSpPr>
        <p:spPr>
          <a:xfrm>
            <a:off x="4862689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panoramique avec légende">
  <p:cSld name="Image panoramique avec légend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6"/>
          <p:cNvSpPr txBox="1"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2400"/>
              <a:buFont typeface="Century Gothic"/>
              <a:buNone/>
              <a:defRPr sz="2400" b="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6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4800600"/>
          </a:xfrm>
          <a:prstGeom prst="rect">
            <a:avLst/>
          </a:prstGeom>
          <a:noFill/>
          <a:ln w="9525" cap="rnd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>
              <a:srgbClr val="000000">
                <a:alpha val="40000"/>
              </a:srgbClr>
            </a:outerShdw>
          </a:effectLst>
        </p:spPr>
      </p:sp>
      <p:sp>
        <p:nvSpPr>
          <p:cNvPr id="82" name="Google Shape;82;p26"/>
          <p:cNvSpPr txBox="1">
            <a:spLocks noGrp="1"/>
          </p:cNvSpPr>
          <p:nvPr>
            <p:ph type="body" idx="1"/>
          </p:nvPr>
        </p:nvSpPr>
        <p:spPr>
          <a:xfrm>
            <a:off x="810000" y="5367338"/>
            <a:ext cx="10561418" cy="4937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3" name="Google Shape;83;p2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itation avec légende">
  <p:cSld name="Citation avec légen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7"/>
          <p:cNvSpPr/>
          <p:nvPr/>
        </p:nvSpPr>
        <p:spPr>
          <a:xfrm>
            <a:off x="631697" y="1081456"/>
            <a:ext cx="6332416" cy="3239188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27"/>
          <p:cNvSpPr txBox="1"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200"/>
              <a:buFont typeface="Century Gothic"/>
              <a:buNone/>
              <a:defRPr sz="42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7"/>
          <p:cNvSpPr txBox="1"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90" name="Google Shape;90;p27"/>
          <p:cNvSpPr txBox="1">
            <a:spLocks noGrp="1"/>
          </p:cNvSpPr>
          <p:nvPr>
            <p:ph type="body" idx="2"/>
          </p:nvPr>
        </p:nvSpPr>
        <p:spPr>
          <a:xfrm>
            <a:off x="7574642" y="1081456"/>
            <a:ext cx="3810001" cy="407546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1" name="Google Shape;91;p27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7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7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rte de nom">
  <p:cSld name="Carte de nom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8"/>
          <p:cNvSpPr/>
          <p:nvPr/>
        </p:nvSpPr>
        <p:spPr>
          <a:xfrm>
            <a:off x="1140884" y="2286585"/>
            <a:ext cx="4895115" cy="2503972"/>
          </a:xfrm>
          <a:custGeom>
            <a:avLst/>
            <a:gdLst/>
            <a:ahLst/>
            <a:cxnLst/>
            <a:rect l="l" t="t" r="r" b="b"/>
            <a:pathLst>
              <a:path w="3384" h="2308" extrusionOk="0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28"/>
          <p:cNvSpPr txBox="1"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8"/>
          <p:cNvSpPr txBox="1">
            <a:spLocks noGrp="1"/>
          </p:cNvSpPr>
          <p:nvPr>
            <p:ph type="body" idx="1"/>
          </p:nvPr>
        </p:nvSpPr>
        <p:spPr>
          <a:xfrm>
            <a:off x="6156000" y="2286000"/>
            <a:ext cx="4880300" cy="229552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Century Gothic"/>
              <a:buNone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98" name="Google Shape;98;p28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8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8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9"/>
          <p:cNvSpPr/>
          <p:nvPr/>
        </p:nvSpPr>
        <p:spPr>
          <a:xfrm>
            <a:off x="0" y="0"/>
            <a:ext cx="12192000" cy="2185988"/>
          </a:xfrm>
          <a:custGeom>
            <a:avLst/>
            <a:gdLst/>
            <a:ahLst/>
            <a:cxnLst/>
            <a:rect l="l" t="t" r="r" b="b"/>
            <a:pathLst>
              <a:path w="5760" h="1377" extrusionOk="0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p2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9"/>
          <p:cNvSpPr txBox="1">
            <a:spLocks noGrp="1"/>
          </p:cNvSpPr>
          <p:nvPr>
            <p:ph type="body" idx="1"/>
          </p:nvPr>
        </p:nvSpPr>
        <p:spPr>
          <a:xfrm rot="5400000">
            <a:off x="4254444" y="-1260043"/>
            <a:ext cx="3674397" cy="10563285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05" name="Google Shape;105;p29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9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9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0"/>
          <p:cNvSpPr/>
          <p:nvPr/>
        </p:nvSpPr>
        <p:spPr>
          <a:xfrm>
            <a:off x="7669651" y="446089"/>
            <a:ext cx="4522349" cy="5414962"/>
          </a:xfrm>
          <a:custGeom>
            <a:avLst/>
            <a:gdLst/>
            <a:ahLst/>
            <a:cxnLst/>
            <a:rect l="l" t="t" r="r" b="b"/>
            <a:pathLst>
              <a:path w="2879" h="4320" extrusionOk="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tile tx="0" ty="0" sx="100000" sy="100000" flip="none" algn="tl"/>
          </a:blipFill>
          <a:ln w="9525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0" name="Google Shape;110;p30"/>
          <p:cNvSpPr txBox="1">
            <a:spLocks noGrp="1"/>
          </p:cNvSpPr>
          <p:nvPr>
            <p:ph type="title"/>
          </p:nvPr>
        </p:nvSpPr>
        <p:spPr>
          <a:xfrm rot="5400000">
            <a:off x="6863536" y="1906175"/>
            <a:ext cx="5134798" cy="249479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30"/>
          <p:cNvSpPr txBox="1">
            <a:spLocks noGrp="1"/>
          </p:cNvSpPr>
          <p:nvPr>
            <p:ph type="body" idx="1"/>
          </p:nvPr>
        </p:nvSpPr>
        <p:spPr>
          <a:xfrm rot="5400000">
            <a:off x="1408290" y="-152200"/>
            <a:ext cx="5414962" cy="661154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?"/>
              <a:defRPr/>
            </a:lvl1pPr>
            <a:lvl2pPr marL="914400" lvl="1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2pPr>
            <a:lvl3pPr marL="1371600" lvl="2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3pPr>
            <a:lvl4pPr marL="1828800" lvl="3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4pPr>
            <a:lvl5pPr marL="2286000" lvl="4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5pPr>
            <a:lvl6pPr marL="2743200" lvl="5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6pPr>
            <a:lvl7pPr marL="3200400" lvl="6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7pPr>
            <a:lvl8pPr marL="3657600" lvl="7" indent="-3429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Char char="?"/>
              <a:defRPr/>
            </a:lvl8pPr>
            <a:lvl9pPr marL="4114800" lvl="8" indent="-3429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800"/>
              <a:buChar char="?"/>
              <a:defRPr/>
            </a:lvl9pPr>
          </a:lstStyle>
          <a:p>
            <a:endParaRPr/>
          </a:p>
        </p:txBody>
      </p:sp>
      <p:sp>
        <p:nvSpPr>
          <p:cNvPr id="112" name="Google Shape;112;p30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0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0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  <a:defRPr sz="4000" b="1" i="0" u="none" strike="noStrike" cap="none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6"/>
          <p:cNvSpPr txBox="1"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🞆"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302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oto Sans Symbols"/>
              <a:buChar char="🞆"/>
              <a:defRPr sz="16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🞆"/>
              <a:defRPr sz="14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3048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30480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ts val="1200"/>
              <a:buFont typeface="Noto Sans Symbols"/>
              <a:buChar char="🞆"/>
              <a:defRPr sz="12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2" name="Google Shape;12;p16"/>
          <p:cNvSpPr txBox="1">
            <a:spLocks noGrp="1"/>
          </p:cNvSpPr>
          <p:nvPr>
            <p:ph type="ftr" idx="11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dt" idx="10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sldNum" idx="12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108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1" name="Google Shape;121;p1"/>
          <p:cNvSpPr/>
          <p:nvPr/>
        </p:nvSpPr>
        <p:spPr>
          <a:xfrm rot="-5400000">
            <a:off x="-650724" y="650724"/>
            <a:ext cx="6858000" cy="5556552"/>
          </a:xfrm>
          <a:custGeom>
            <a:avLst/>
            <a:gdLst/>
            <a:ahLst/>
            <a:cxnLst/>
            <a:rect l="l" t="t" r="r" b="b"/>
            <a:pathLst>
              <a:path w="6858000" h="5556552" extrusionOk="0">
                <a:moveTo>
                  <a:pt x="6858000" y="3445704"/>
                </a:moveTo>
                <a:lnTo>
                  <a:pt x="3829242" y="5433322"/>
                </a:lnTo>
                <a:lnTo>
                  <a:pt x="3827369" y="5434867"/>
                </a:lnTo>
                <a:lnTo>
                  <a:pt x="3824583" y="5436378"/>
                </a:lnTo>
                <a:lnTo>
                  <a:pt x="3798693" y="5453370"/>
                </a:lnTo>
                <a:lnTo>
                  <a:pt x="3785011" y="5457858"/>
                </a:lnTo>
                <a:lnTo>
                  <a:pt x="3706339" y="5500559"/>
                </a:lnTo>
                <a:cubicBezTo>
                  <a:pt x="3621096" y="5536614"/>
                  <a:pt x="3527375" y="5556552"/>
                  <a:pt x="3428998" y="5556552"/>
                </a:cubicBezTo>
                <a:cubicBezTo>
                  <a:pt x="3330621" y="5556552"/>
                  <a:pt x="3236901" y="5536614"/>
                  <a:pt x="3151658" y="5500559"/>
                </a:cubicBezTo>
                <a:lnTo>
                  <a:pt x="3072996" y="5457863"/>
                </a:lnTo>
                <a:lnTo>
                  <a:pt x="3059298" y="5453370"/>
                </a:lnTo>
                <a:lnTo>
                  <a:pt x="3033383" y="5436362"/>
                </a:lnTo>
                <a:lnTo>
                  <a:pt x="3030627" y="5434867"/>
                </a:lnTo>
                <a:lnTo>
                  <a:pt x="3028775" y="5433338"/>
                </a:lnTo>
                <a:lnTo>
                  <a:pt x="0" y="3445704"/>
                </a:lnTo>
                <a:close/>
                <a:moveTo>
                  <a:pt x="6858000" y="0"/>
                </a:moveTo>
                <a:lnTo>
                  <a:pt x="6858000" y="349336"/>
                </a:lnTo>
                <a:lnTo>
                  <a:pt x="6858000" y="3445703"/>
                </a:lnTo>
                <a:lnTo>
                  <a:pt x="0" y="3445703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"/>
          <p:cNvSpPr txBox="1">
            <a:spLocks noGrp="1"/>
          </p:cNvSpPr>
          <p:nvPr>
            <p:ph type="subTitle" idx="1"/>
          </p:nvPr>
        </p:nvSpPr>
        <p:spPr>
          <a:xfrm>
            <a:off x="643466" y="2281574"/>
            <a:ext cx="3994015" cy="2294852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fr-FR" sz="2800" dirty="0"/>
              <a:t>Adja Nafi </a:t>
            </a:r>
            <a:r>
              <a:rPr lang="fr-FR" sz="2800" dirty="0" err="1"/>
              <a:t>Dieye</a:t>
            </a:r>
            <a:endParaRPr dirty="0"/>
          </a:p>
        </p:txBody>
      </p:sp>
      <p:sp>
        <p:nvSpPr>
          <p:cNvPr id="123" name="Google Shape;123;p1"/>
          <p:cNvSpPr txBox="1">
            <a:spLocks noGrp="1"/>
          </p:cNvSpPr>
          <p:nvPr>
            <p:ph type="ctrTitle"/>
          </p:nvPr>
        </p:nvSpPr>
        <p:spPr>
          <a:xfrm>
            <a:off x="5882557" y="1775875"/>
            <a:ext cx="5452533" cy="3306249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400"/>
              <a:buFont typeface="Century Gothic"/>
              <a:buNone/>
            </a:pPr>
            <a:r>
              <a:rPr lang="fr-FR" sz="4400" dirty="0"/>
              <a:t>Étude sur l’alimentation dans le monde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Contexte et spécification des données</a:t>
            </a:r>
            <a:endParaRPr sz="3200" dirty="0"/>
          </a:p>
        </p:txBody>
      </p:sp>
      <p:sp>
        <p:nvSpPr>
          <p:cNvPr id="2" name="Flèche : bas 1">
            <a:extLst>
              <a:ext uri="{FF2B5EF4-FFF2-40B4-BE49-F238E27FC236}">
                <a16:creationId xmlns:a16="http://schemas.microsoft.com/office/drawing/2014/main" id="{01EDE0F8-112A-CFC3-1223-9B8B9C48E3BD}"/>
              </a:ext>
            </a:extLst>
          </p:cNvPr>
          <p:cNvSpPr/>
          <p:nvPr/>
        </p:nvSpPr>
        <p:spPr>
          <a:xfrm rot="16200000">
            <a:off x="956223" y="2378231"/>
            <a:ext cx="801262" cy="76691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D6F144-8415-D193-E2A9-23861A2BF3DE}"/>
              </a:ext>
            </a:extLst>
          </p:cNvPr>
          <p:cNvSpPr txBox="1"/>
          <p:nvPr/>
        </p:nvSpPr>
        <p:spPr>
          <a:xfrm>
            <a:off x="2290916" y="2361059"/>
            <a:ext cx="417870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1"/>
                </a:solidFill>
                <a:latin typeface="Century Gothic"/>
              </a:rPr>
              <a:t>Objectif de l’étude</a:t>
            </a:r>
          </a:p>
          <a:p>
            <a:endParaRPr lang="fr-FR" sz="1600" b="1" dirty="0">
              <a:solidFill>
                <a:srgbClr val="0072C8"/>
              </a:solidFill>
              <a:latin typeface="Century Gothic"/>
            </a:endParaRPr>
          </a:p>
          <a:p>
            <a:r>
              <a:rPr lang="fr-FR" dirty="0">
                <a:solidFill>
                  <a:schemeClr val="bg1"/>
                </a:solidFill>
                <a:latin typeface="Century Gothic"/>
              </a:rPr>
              <a:t>Réaliser une étude internationale sur l’alimentation dans le monde, avec un focus sur la sous-nutrition.</a:t>
            </a:r>
          </a:p>
          <a:p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62B5ED3-9AA0-1631-03C4-1FE7B80180B1}"/>
              </a:ext>
            </a:extLst>
          </p:cNvPr>
          <p:cNvSpPr txBox="1"/>
          <p:nvPr/>
        </p:nvSpPr>
        <p:spPr>
          <a:xfrm>
            <a:off x="973395" y="4002010"/>
            <a:ext cx="698090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solidFill>
                  <a:schemeClr val="accent1"/>
                </a:solidFill>
                <a:latin typeface="Century Gothic"/>
              </a:rPr>
              <a:t>Source de données</a:t>
            </a:r>
          </a:p>
          <a:p>
            <a:endParaRPr lang="fr-FR" sz="1600" b="1" dirty="0">
              <a:solidFill>
                <a:srgbClr val="0072C8"/>
              </a:solidFill>
              <a:latin typeface="Century Gothic"/>
            </a:endParaRPr>
          </a:p>
          <a:p>
            <a:r>
              <a:rPr lang="fr-FR" b="1" dirty="0">
                <a:solidFill>
                  <a:schemeClr val="bg1"/>
                </a:solidFill>
                <a:latin typeface="Century Gothic"/>
              </a:rPr>
              <a:t>Population </a:t>
            </a:r>
            <a:r>
              <a:rPr lang="fr-FR" dirty="0">
                <a:solidFill>
                  <a:schemeClr val="bg1"/>
                </a:solidFill>
                <a:latin typeface="Century Gothic"/>
              </a:rPr>
              <a:t>: habitants par pays et année.</a:t>
            </a:r>
          </a:p>
          <a:p>
            <a:endParaRPr lang="fr-FR" dirty="0">
              <a:solidFill>
                <a:schemeClr val="bg1"/>
              </a:solidFill>
              <a:latin typeface="Century Gothic"/>
            </a:endParaRPr>
          </a:p>
          <a:p>
            <a:r>
              <a:rPr lang="fr-FR" b="1" dirty="0">
                <a:solidFill>
                  <a:schemeClr val="bg1"/>
                </a:solidFill>
                <a:latin typeface="Century Gothic"/>
              </a:rPr>
              <a:t>Disponibilité alimentaire </a:t>
            </a:r>
            <a:r>
              <a:rPr lang="fr-FR" dirty="0">
                <a:solidFill>
                  <a:schemeClr val="bg1"/>
                </a:solidFill>
                <a:latin typeface="Century Gothic"/>
              </a:rPr>
              <a:t>: kcal, protéines, quantités par produit et pays.</a:t>
            </a:r>
          </a:p>
          <a:p>
            <a:endParaRPr lang="fr-FR" dirty="0">
              <a:solidFill>
                <a:schemeClr val="bg1"/>
              </a:solidFill>
              <a:latin typeface="Century Gothic"/>
            </a:endParaRPr>
          </a:p>
          <a:p>
            <a:r>
              <a:rPr lang="fr-FR" b="1" dirty="0">
                <a:solidFill>
                  <a:schemeClr val="bg1"/>
                </a:solidFill>
                <a:latin typeface="Century Gothic"/>
              </a:rPr>
              <a:t>Aide alimentaire </a:t>
            </a:r>
            <a:r>
              <a:rPr lang="fr-FR" dirty="0">
                <a:solidFill>
                  <a:schemeClr val="bg1"/>
                </a:solidFill>
                <a:latin typeface="Century Gothic"/>
              </a:rPr>
              <a:t>: volumes distribués par organismes internationaux.</a:t>
            </a:r>
          </a:p>
          <a:p>
            <a:endParaRPr lang="fr-FR" dirty="0">
              <a:solidFill>
                <a:schemeClr val="bg1"/>
              </a:solidFill>
              <a:latin typeface="Century Gothic"/>
            </a:endParaRPr>
          </a:p>
          <a:p>
            <a:r>
              <a:rPr lang="fr-FR" b="1" dirty="0">
                <a:solidFill>
                  <a:schemeClr val="bg1"/>
                </a:solidFill>
                <a:latin typeface="Century Gothic"/>
              </a:rPr>
              <a:t>Sous-nutrition</a:t>
            </a:r>
            <a:r>
              <a:rPr lang="fr-FR" dirty="0">
                <a:solidFill>
                  <a:schemeClr val="bg1"/>
                </a:solidFill>
                <a:latin typeface="Century Gothic"/>
              </a:rPr>
              <a:t> : nombre de personnes souffrant de carences.</a:t>
            </a:r>
          </a:p>
          <a:p>
            <a:endParaRPr lang="fr-FR" dirty="0"/>
          </a:p>
        </p:txBody>
      </p:sp>
      <p:graphicFrame>
        <p:nvGraphicFramePr>
          <p:cNvPr id="6" name="Diagramme 5">
            <a:extLst>
              <a:ext uri="{FF2B5EF4-FFF2-40B4-BE49-F238E27FC236}">
                <a16:creationId xmlns:a16="http://schemas.microsoft.com/office/drawing/2014/main" id="{84B43797-90B4-C726-624E-72CCDC6E1C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26885642"/>
              </p:ext>
            </p:extLst>
          </p:nvPr>
        </p:nvGraphicFramePr>
        <p:xfrm>
          <a:off x="7545861" y="3162321"/>
          <a:ext cx="4268422" cy="2845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BB0C2F87-B886-568A-5412-82AEBBB92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">
            <a:extLst>
              <a:ext uri="{FF2B5EF4-FFF2-40B4-BE49-F238E27FC236}">
                <a16:creationId xmlns:a16="http://schemas.microsoft.com/office/drawing/2014/main" id="{F8718157-D7F6-B53D-EDB8-158ABFC778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Méthodologie de l’analyse</a:t>
            </a:r>
            <a:endParaRPr sz="3200" dirty="0"/>
          </a:p>
        </p:txBody>
      </p:sp>
      <p:graphicFrame>
        <p:nvGraphicFramePr>
          <p:cNvPr id="3" name="Diagramme 2">
            <a:extLst>
              <a:ext uri="{FF2B5EF4-FFF2-40B4-BE49-F238E27FC236}">
                <a16:creationId xmlns:a16="http://schemas.microsoft.com/office/drawing/2014/main" id="{E7284310-6F89-C7F5-DD25-1D6DF1D9291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1446840"/>
              </p:ext>
            </p:extLst>
          </p:nvPr>
        </p:nvGraphicFramePr>
        <p:xfrm>
          <a:off x="3723148" y="1966229"/>
          <a:ext cx="6718710" cy="38572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B4278BB2-FD2D-B5F0-A2B7-D654409D9D71}"/>
              </a:ext>
            </a:extLst>
          </p:cNvPr>
          <p:cNvSpPr txBox="1"/>
          <p:nvPr/>
        </p:nvSpPr>
        <p:spPr>
          <a:xfrm>
            <a:off x="934064" y="3710189"/>
            <a:ext cx="179930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u="sng" dirty="0">
                <a:solidFill>
                  <a:srgbClr val="FEFEFE"/>
                </a:solidFill>
                <a:latin typeface="Century Gothic"/>
                <a:sym typeface="Century Gothic"/>
              </a:rPr>
              <a:t>Étapes</a:t>
            </a:r>
            <a:r>
              <a:rPr lang="fr-FR" sz="3200" b="1" dirty="0">
                <a:solidFill>
                  <a:srgbClr val="FEFEFE"/>
                </a:solidFill>
                <a:latin typeface="Century Gothic"/>
                <a:sym typeface="Century Gothic"/>
              </a:rPr>
              <a:t> :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11EDF0DB-29AF-1967-00B1-91637F60F6D4}"/>
              </a:ext>
            </a:extLst>
          </p:cNvPr>
          <p:cNvSpPr txBox="1"/>
          <p:nvPr/>
        </p:nvSpPr>
        <p:spPr>
          <a:xfrm>
            <a:off x="320776" y="5577672"/>
            <a:ext cx="11550445" cy="110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lang="fr-FR" sz="1800" b="1" u="sng" dirty="0"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RGPD — Est-ce applicable ?</a:t>
            </a:r>
          </a:p>
          <a:p>
            <a:pPr>
              <a:spcBef>
                <a:spcPts val="200"/>
              </a:spcBef>
            </a:pPr>
            <a:endParaRPr lang="fr-FR" sz="1800" b="1" u="sng" dirty="0">
              <a:solidFill>
                <a:srgbClr val="0072C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r>
              <a:rPr lang="fr-FR" sz="1400" dirty="0">
                <a:solidFill>
                  <a:schemeClr val="bg1"/>
                </a:solidFill>
                <a:latin typeface="Century Gothic"/>
              </a:rPr>
              <a:t>Non. Les données utilisées sont des statistiques agrégées par pays publiées par la FAO. Elles ne contiennent aucune donnée personnelle identifiable. Le RGPD ne s’applique pas.</a:t>
            </a:r>
          </a:p>
        </p:txBody>
      </p:sp>
    </p:spTree>
    <p:extLst>
      <p:ext uri="{BB962C8B-B14F-4D97-AF65-F5344CB8AC3E}">
        <p14:creationId xmlns:p14="http://schemas.microsoft.com/office/powerpoint/2010/main" val="2089241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4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/>
              <a:t>1) Proportion de personnes en état de sous-nutrition en 2017</a:t>
            </a:r>
            <a:endParaRPr lang="fr-FR" sz="3200" dirty="0"/>
          </a:p>
        </p:txBody>
      </p:sp>
      <p:sp>
        <p:nvSpPr>
          <p:cNvPr id="146" name="Google Shape;146;p4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4306528" y="2222287"/>
            <a:ext cx="7066757" cy="3636511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800" b="1" i="0" u="none" strike="noStrike" cap="none" dirty="0">
                <a:solidFill>
                  <a:srgbClr val="E03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544 200 000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entury Gothic"/>
              </a:rPr>
              <a:t>personnes en état de sous-nutrition en 2017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3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7,2 %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</a:rPr>
              <a:t>de la population mondiale (sur 7,54 milliards d’habitants)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C0D15D4-6EE0-1D72-9288-A9D5C0CCCF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000" y="2222286"/>
            <a:ext cx="3710082" cy="363651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2) Nombre théorique de personnes qui pourraient être nourries en 2017</a:t>
            </a:r>
            <a:endParaRPr sz="3200" dirty="0"/>
          </a:p>
        </p:txBody>
      </p:sp>
      <p:sp>
        <p:nvSpPr>
          <p:cNvPr id="153" name="Google Shape;153;p5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6" name="Google Shape;154;p5"/>
          <p:cNvSpPr/>
          <p:nvPr/>
        </p:nvSpPr>
        <p:spPr>
          <a:xfrm>
            <a:off x="818712" y="2222287"/>
            <a:ext cx="10554573" cy="3636511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9 297 326 501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2000" b="0" i="0" u="none" strike="noStrike" cap="none" dirty="0">
                <a:solidFill>
                  <a:srgbClr val="000000"/>
                </a:solidFill>
                <a:latin typeface="Century Gothic"/>
              </a:rPr>
              <a:t>personnes pourraient être nourries avec la disponibilité alimentaire mondiale 2017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3000" b="1" i="0" u="none" strike="noStrike" cap="none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= 123,2 % de la population mondiale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endParaRPr lang="fr-FR" sz="3000" b="1" i="0" u="none" strike="noStrike" cap="none" dirty="0">
              <a:solidFill>
                <a:schemeClr val="accent4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1" u="none" strike="noStrike" cap="none" dirty="0">
                <a:solidFill>
                  <a:srgbClr val="E03939"/>
                </a:solidFill>
                <a:latin typeface="Century Gothic"/>
              </a:rPr>
              <a:t>Conclusion : la faim dans le monde n’est pas un problème de production, mais de distribution.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5C73D95-0420-9452-BA77-D55698750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5">
            <a:extLst>
              <a:ext uri="{FF2B5EF4-FFF2-40B4-BE49-F238E27FC236}">
                <a16:creationId xmlns:a16="http://schemas.microsoft.com/office/drawing/2014/main" id="{9B5F81BD-2400-991D-16D5-BD2300CA05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2) Nombre théorique de personnes qui pourraient être nourries en 2017</a:t>
            </a:r>
            <a:endParaRPr sz="3200" dirty="0"/>
          </a:p>
        </p:txBody>
      </p:sp>
      <p:sp>
        <p:nvSpPr>
          <p:cNvPr id="153" name="Google Shape;153;p5">
            <a:extLst>
              <a:ext uri="{FF2B5EF4-FFF2-40B4-BE49-F238E27FC236}">
                <a16:creationId xmlns:a16="http://schemas.microsoft.com/office/drawing/2014/main" id="{8FE3CCD6-E8BB-FA50-29D2-05EBBB251E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58AD824-A7BF-8454-E4F0-FC513ED04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711" y="2183166"/>
            <a:ext cx="10571998" cy="446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21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3) Nombre théorique de personnes qui pourraient être nourries uniquement avec les végétaux en 2017</a:t>
            </a:r>
            <a:endParaRPr dirty="0"/>
          </a:p>
        </p:txBody>
      </p:sp>
      <p:sp>
        <p:nvSpPr>
          <p:cNvPr id="160" name="Google Shape;160;p6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5948516" y="2222287"/>
            <a:ext cx="6243484" cy="3636511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44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9 290 380 284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</a:rPr>
              <a:t>personnes pourraient être nourries avec les seuls produits végétaux</a:t>
            </a:r>
          </a:p>
          <a:p>
            <a:pPr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2000" b="1" i="0" u="none" strike="noStrike" cap="none" dirty="0"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= 123,1 % de la population mondiale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fr-FR" sz="1200" b="0" i="0" u="none" strike="noStrike" cap="none" dirty="0">
                <a:solidFill>
                  <a:srgbClr val="555555"/>
                </a:solidFill>
                <a:latin typeface="Century Gothic"/>
              </a:rPr>
              <a:t>Disponibilité calorique végétale : 7,63 × 10¹⁵ kcal/an (quasi identique au total)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b="1" i="1" u="none" strike="noStrike" cap="none" dirty="0">
                <a:solidFill>
                  <a:srgbClr val="E03939"/>
                </a:solidFill>
                <a:latin typeface="Century Gothic"/>
              </a:rPr>
              <a:t>Même sans produits animaux, la disponibilité végétale suffirait à nourrir toute la population mondiale.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BAE34EC-4B18-0E74-B89B-ED3DEB230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287"/>
            <a:ext cx="5948516" cy="363651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7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4) Répartition de la disponibilité intérieure</a:t>
            </a:r>
            <a:endParaRPr dirty="0"/>
          </a:p>
        </p:txBody>
      </p:sp>
      <p:sp>
        <p:nvSpPr>
          <p:cNvPr id="167" name="Google Shape;167;p7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dirty="0"/>
          </a:p>
        </p:txBody>
      </p:sp>
      <p:sp>
        <p:nvSpPr>
          <p:cNvPr id="168" name="Google Shape;168;p7"/>
          <p:cNvSpPr/>
          <p:nvPr/>
        </p:nvSpPr>
        <p:spPr>
          <a:xfrm>
            <a:off x="4676774" y="2222286"/>
            <a:ext cx="7515223" cy="463571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cap="none" dirty="0">
                <a:solidFill>
                  <a:schemeClr val="accent4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Disponibilité intérieure mondiale totale : 9 849 milliards de kg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3200" b="1" i="0" u="none" strike="noStrike" cap="none" dirty="0">
                <a:solidFill>
                  <a:srgbClr val="2E86DE"/>
                </a:solidFill>
                <a:latin typeface="Century Gothic"/>
              </a:rPr>
              <a:t>49,5 %</a:t>
            </a: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</a:rPr>
              <a:t>  </a:t>
            </a:r>
            <a:r>
              <a:rPr lang="fr-FR" sz="1800" b="0" i="0" u="none" strike="noStrike" cap="none" dirty="0">
                <a:solidFill>
                  <a:schemeClr val="bg1"/>
                </a:solidFill>
                <a:latin typeface="Century Gothic"/>
              </a:rPr>
              <a:t>Alimentation humaine (4 876 milliards kg)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3200" b="1" i="0" u="none" strike="noStrike" cap="none" dirty="0">
                <a:solidFill>
                  <a:srgbClr val="E07B39"/>
                </a:solidFill>
                <a:latin typeface="Century Gothic"/>
              </a:rPr>
              <a:t>13,2 %</a:t>
            </a: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</a:rPr>
              <a:t>  </a:t>
            </a:r>
            <a:r>
              <a:rPr lang="fr-FR" sz="1800" b="0" i="0" u="none" strike="noStrike" cap="none" dirty="0">
                <a:solidFill>
                  <a:schemeClr val="bg1"/>
                </a:solidFill>
                <a:latin typeface="Century Gothic"/>
              </a:rPr>
              <a:t>Alimentation animale (1 304 milliards kg)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3200" b="1" i="0" u="none" strike="noStrike" cap="none" dirty="0">
                <a:solidFill>
                  <a:srgbClr val="E03939"/>
                </a:solidFill>
                <a:latin typeface="Century Gothic"/>
              </a:rPr>
              <a:t>4,6 %</a:t>
            </a:r>
            <a:r>
              <a:rPr lang="fr-FR" sz="1800" b="0" i="0" u="none" strike="noStrike" cap="none" dirty="0">
                <a:solidFill>
                  <a:srgbClr val="000000"/>
                </a:solidFill>
                <a:latin typeface="Century Gothic"/>
              </a:rPr>
              <a:t>  </a:t>
            </a:r>
            <a:r>
              <a:rPr lang="fr-FR" sz="1800" b="0" i="0" u="none" strike="noStrike" cap="none" dirty="0">
                <a:solidFill>
                  <a:schemeClr val="bg1"/>
                </a:solidFill>
                <a:latin typeface="Century Gothic"/>
              </a:rPr>
              <a:t>Pertes (454 milliards kg)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1500" b="0" i="0" u="none" strike="noStrike" cap="none" dirty="0">
                <a:solidFill>
                  <a:srgbClr val="555555"/>
                </a:solidFill>
                <a:latin typeface="Century Gothic"/>
              </a:rPr>
              <a:t>Les 32,7 % restants couvrent semences, traitement et autres utilisations.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39760B6A-0A1B-E8EA-3022-1A17691DE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287"/>
            <a:ext cx="4676775" cy="46357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5) Part de l’utilisation des principales céréales entre l’alimentation humaine et animale</a:t>
            </a:r>
            <a:endParaRPr dirty="0"/>
          </a:p>
        </p:txBody>
      </p:sp>
      <p:sp>
        <p:nvSpPr>
          <p:cNvPr id="175" name="Google Shape;175;p8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801031" y="2222287"/>
            <a:ext cx="5954143" cy="3636511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Céréales analysées (source FAO) 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/>
              </a:rPr>
              <a:t>Blé, Riz (Eq Blanchi), Orge, Maïs, Seigle, Avoine, Millet, Sorgho, Céréales Autres</a:t>
            </a:r>
          </a:p>
          <a:p>
            <a:r>
              <a:rPr lang="fr-F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Résultats clés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/>
              </a:rPr>
              <a:t>Disponibilité intérieure totale des céréales : 2 407 milliards kg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/>
              </a:rPr>
              <a:t>Part destinée à l’alimentation animale : 874 milliards kg</a:t>
            </a:r>
          </a:p>
          <a:p>
            <a:pPr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4000" b="1" i="0" u="none" strike="noStrike" cap="none" dirty="0">
                <a:solidFill>
                  <a:srgbClr val="E07B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36,3 %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/>
              </a:rPr>
              <a:t>des céréales mondiales vont à l’alimentation animale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9B57790A-19B0-7797-7464-C42ABEEDF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287"/>
            <a:ext cx="5801031" cy="36365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6) Liste des 10 pays où la proportion de personnes en état de sous-nutrition est la plus forte en </a:t>
            </a:r>
            <a:r>
              <a:rPr lang="fr-FR" sz="3200" dirty="0">
                <a:solidFill>
                  <a:schemeClr val="lt1"/>
                </a:solidFill>
              </a:rPr>
              <a:t>2017</a:t>
            </a:r>
            <a:endParaRPr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FD749E2B-47C1-D42A-EE9D-CC4A85D54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287"/>
            <a:ext cx="7760538" cy="4484542"/>
          </a:xfrm>
          <a:prstGeom prst="rect">
            <a:avLst/>
          </a:prstGeom>
        </p:spPr>
      </p:pic>
      <p:sp>
        <p:nvSpPr>
          <p:cNvPr id="5" name="Google Shape;176;p8">
            <a:extLst>
              <a:ext uri="{FF2B5EF4-FFF2-40B4-BE49-F238E27FC236}">
                <a16:creationId xmlns:a16="http://schemas.microsoft.com/office/drawing/2014/main" id="{4281E6FC-5D1B-43AE-74A2-08336EBBB22B}"/>
              </a:ext>
            </a:extLst>
          </p:cNvPr>
          <p:cNvSpPr/>
          <p:nvPr/>
        </p:nvSpPr>
        <p:spPr>
          <a:xfrm>
            <a:off x="7760539" y="2222287"/>
            <a:ext cx="4431462" cy="4484542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Top 10 des pays</a:t>
            </a:r>
            <a:r>
              <a:rPr lang="fr-FR" sz="18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800" b="1" i="0" u="none" strike="noStrike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2800" b="1" dirty="0">
                <a:solidFill>
                  <a:srgbClr val="E07B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Haïti (49,2 %)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altLang="fr-FR" sz="2800" b="1" dirty="0">
              <a:solidFill>
                <a:srgbClr val="E07B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2800" b="1" dirty="0">
                <a:solidFill>
                  <a:srgbClr val="E07B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Corée du Nord (48 %)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altLang="fr-FR" sz="2800" b="1" dirty="0">
              <a:solidFill>
                <a:srgbClr val="E07B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2800" b="1" dirty="0">
                <a:solidFill>
                  <a:srgbClr val="E07B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Madagascar (43 %)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endParaRPr lang="fr-FR" altLang="fr-FR" sz="2800" b="1" dirty="0">
              <a:solidFill>
                <a:srgbClr val="E07B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fr-FR" altLang="fr-FR" sz="2800" b="1" dirty="0">
                <a:solidFill>
                  <a:srgbClr val="E07B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Tchad (40,6 %)</a:t>
            </a:r>
          </a:p>
          <a:p>
            <a:r>
              <a:rPr lang="fr-FR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Message clé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fr-FR" altLang="fr-FR" sz="1600" dirty="0">
                <a:latin typeface="Century Gothic"/>
              </a:rPr>
              <a:t>corrélation forte avec conflits et pauvreté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7) Liste des 10 pays qui ont le plus bénéficié de l’aide alimentaire entre 2013 et 2016</a:t>
            </a:r>
            <a:endParaRPr dirty="0"/>
          </a:p>
        </p:txBody>
      </p:sp>
      <p:sp>
        <p:nvSpPr>
          <p:cNvPr id="189" name="Google Shape;189;p1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90" name="Google Shape;190;p10"/>
          <p:cNvSpPr/>
          <p:nvPr/>
        </p:nvSpPr>
        <p:spPr>
          <a:xfrm>
            <a:off x="6424996" y="2222285"/>
            <a:ext cx="5767002" cy="4424498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latin typeface="Century Gothic"/>
              </a:rPr>
              <a:t>Pays bénéficiaires de l’aide alimentaire 2013–2016 (en kg) :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700" b="1" i="0" u="none" strike="noStrike" cap="none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1. </a:t>
            </a:r>
            <a:r>
              <a:rPr lang="fr-FR" sz="1700" b="1" i="0" u="none" strike="noStrike" cap="none" dirty="0" err="1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Rép</a:t>
            </a:r>
            <a:r>
              <a:rPr lang="fr-FR" sz="1700" b="1" i="0" u="none" strike="noStrike" cap="none" dirty="0">
                <a:solidFill>
                  <a:schemeClr val="accent5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. arabe syrienne </a:t>
            </a:r>
            <a:r>
              <a:rPr lang="fr-FR" sz="1700" b="0" i="0" u="none" strike="noStrike" cap="none" dirty="0">
                <a:solidFill>
                  <a:srgbClr val="000000"/>
                </a:solidFill>
                <a:latin typeface="Century Gothic"/>
              </a:rPr>
              <a:t>1 858 943 000 kg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700" b="1" i="0" u="none" strike="noStrike" cap="none" dirty="0">
                <a:solidFill>
                  <a:schemeClr val="accent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2. Éthiopie </a:t>
            </a:r>
            <a:r>
              <a:rPr lang="fr-FR" sz="1700" b="0" i="0" u="none" strike="noStrike" cap="none" dirty="0">
                <a:solidFill>
                  <a:srgbClr val="000000"/>
                </a:solidFill>
                <a:latin typeface="Century Gothic"/>
              </a:rPr>
              <a:t>1 381 294 000 kg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700" b="1" i="0" u="none" strike="noStrike" cap="none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3. Yémen </a:t>
            </a:r>
            <a:r>
              <a:rPr lang="fr-FR" sz="1700" b="0" i="0" u="none" strike="noStrike" cap="none" dirty="0">
                <a:solidFill>
                  <a:srgbClr val="000000"/>
                </a:solidFill>
                <a:latin typeface="Century Gothic"/>
              </a:rPr>
              <a:t>1 206 484 000 kg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endParaRPr lang="fr-FR" sz="1700" dirty="0">
              <a:latin typeface="Century Gothic"/>
            </a:endParaRPr>
          </a:p>
          <a:p>
            <a:pPr>
              <a:spcBef>
                <a:spcPts val="30"/>
              </a:spcBef>
            </a:pPr>
            <a:r>
              <a:rPr lang="fr-FR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Message clé </a:t>
            </a:r>
            <a:r>
              <a:rPr lang="fr-FR" dirty="0">
                <a:solidFill>
                  <a:schemeClr val="bg1"/>
                </a:solidFill>
              </a:rPr>
              <a:t>: Les pays qui ont reçu le plus d’aide sont ceux en crise humanitaire majeure</a:t>
            </a:r>
            <a:endParaRPr lang="fr-FR" sz="1700" b="0" i="0" u="none" strike="noStrike" cap="none" dirty="0">
              <a:solidFill>
                <a:schemeClr val="bg1"/>
              </a:solidFill>
              <a:latin typeface="Century Gothic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42A030E0-496B-A02B-6A77-5CBFE9468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286"/>
            <a:ext cx="6424996" cy="442449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233f607d43_0_0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8) Évolution de l’aide alimentaire pour les 5 pays qui en ont le plus bénéficié entre 2013 et 2016</a:t>
            </a:r>
            <a:endParaRPr dirty="0"/>
          </a:p>
        </p:txBody>
      </p:sp>
      <p:sp>
        <p:nvSpPr>
          <p:cNvPr id="196" name="Google Shape;196;g2233f607d43_0_0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600" cy="36366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197" name="Google Shape;197;g2233f607d43_0_0"/>
          <p:cNvSpPr/>
          <p:nvPr/>
        </p:nvSpPr>
        <p:spPr>
          <a:xfrm>
            <a:off x="6420464" y="2222287"/>
            <a:ext cx="5771535" cy="4462453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Évolution de l’aide alimentaire reçue (2013–2016) — Top 5 pays bénéficiaires :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600" b="1" i="0" u="sng" strike="noStrike" cap="none" dirty="0">
                <a:solidFill>
                  <a:srgbClr val="E03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Syrie </a:t>
            </a:r>
            <a:r>
              <a:rPr lang="fr-FR" sz="1600" b="1" i="0" u="none" strike="noStrike" cap="none" dirty="0">
                <a:solidFill>
                  <a:srgbClr val="E03939"/>
                </a:solidFill>
                <a:latin typeface="Century Gothic"/>
              </a:rPr>
              <a:t>: </a:t>
            </a:r>
            <a:r>
              <a:rPr lang="fr-FR" sz="1600" b="1" i="0" u="none" strike="noStrike" cap="none" dirty="0">
                <a:solidFill>
                  <a:schemeClr val="bg1"/>
                </a:solidFill>
                <a:latin typeface="Century Gothic"/>
              </a:rPr>
              <a:t>564M (2013) → forte hausse en 2014–2015 liée au conflit, puis stabilisation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sng" strike="noStrike" cap="none" dirty="0">
                <a:solidFill>
                  <a:srgbClr val="E07B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Éthiopie</a:t>
            </a:r>
            <a:r>
              <a:rPr lang="fr-FR" sz="1600" b="1" i="0" u="none" strike="noStrike" cap="none" dirty="0">
                <a:solidFill>
                  <a:srgbClr val="E07B39"/>
                </a:solidFill>
                <a:latin typeface="Century Gothic"/>
              </a:rPr>
              <a:t> : 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591M (2013) → décroissance progressive sur la période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sng" strike="noStrike" cap="none" dirty="0">
                <a:solidFill>
                  <a:srgbClr val="2E7D3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Yémen</a:t>
            </a:r>
            <a:r>
              <a:rPr lang="fr-FR" sz="1600" b="1" i="0" u="none" strike="noStrike" cap="none" dirty="0">
                <a:solidFill>
                  <a:srgbClr val="2E7D32"/>
                </a:solidFill>
                <a:latin typeface="Century Gothic"/>
              </a:rPr>
              <a:t> : 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265M (2013) → montée en 2015–2016 due à la guerre civile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latin typeface="Century Gothic"/>
              </a:rPr>
              <a:t>Soudan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 (330M en 2013) et </a:t>
            </a:r>
            <a:r>
              <a:rPr lang="fr-FR" sz="1600" b="1" i="0" u="none" strike="noStrike" cap="none" dirty="0">
                <a:solidFill>
                  <a:schemeClr val="bg1"/>
                </a:solidFill>
                <a:latin typeface="Century Gothic"/>
              </a:rPr>
              <a:t>Soudan du Sud 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(196M en 2013) : niveaux relativement stables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C00D642B-9286-21B5-FAC6-8A1B3491ED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22287"/>
            <a:ext cx="6420464" cy="446245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9) Liste des 10 pays qui ont la plus forte disponibilité alimentaire par habitant</a:t>
            </a:r>
            <a:endParaRPr sz="3200" dirty="0"/>
          </a:p>
        </p:txBody>
      </p:sp>
      <p:sp>
        <p:nvSpPr>
          <p:cNvPr id="203" name="Google Shape;203;p11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04" name="Google Shape;204;p11"/>
          <p:cNvSpPr/>
          <p:nvPr/>
        </p:nvSpPr>
        <p:spPr>
          <a:xfrm>
            <a:off x="7285703" y="2198932"/>
            <a:ext cx="4906297" cy="3751541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Pays avec la plus forte disponibilité alimentaire par habitant :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700" b="1" i="0" u="none" strike="noStrike" cap="none" dirty="0">
                <a:solidFill>
                  <a:srgbClr val="E03939"/>
                </a:solidFill>
                <a:latin typeface="Century Gothic"/>
              </a:rPr>
              <a:t>1. Autriche </a:t>
            </a:r>
            <a:r>
              <a:rPr lang="fr-FR" sz="1700" b="0" i="0" u="none" strike="noStrike" cap="none" dirty="0">
                <a:solidFill>
                  <a:srgbClr val="000000"/>
                </a:solidFill>
                <a:latin typeface="Century Gothic"/>
              </a:rPr>
              <a:t>— </a:t>
            </a:r>
            <a:r>
              <a:rPr lang="fr-FR" sz="1700" b="0" i="0" u="none" strike="noStrike" cap="none" dirty="0">
                <a:solidFill>
                  <a:schemeClr val="bg1"/>
                </a:solidFill>
                <a:latin typeface="Century Gothic"/>
              </a:rPr>
              <a:t>disponibilité la plus élevée au monde</a:t>
            </a: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1500" b="0" i="1" u="none" strike="noStrike" cap="none" dirty="0">
                <a:solidFill>
                  <a:srgbClr val="555555"/>
                </a:solidFill>
                <a:latin typeface="Century Gothic"/>
              </a:rPr>
              <a:t>Pays majoritairement occidentaux, à hauts revenus — corrélation forte avec le PIB/habitant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A1091F8A-545B-1243-7E0C-1BB7C07F6C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945"/>
          <a:stretch>
            <a:fillRect/>
          </a:stretch>
        </p:blipFill>
        <p:spPr>
          <a:xfrm>
            <a:off x="0" y="2198932"/>
            <a:ext cx="7354529" cy="375154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2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9) Liste des 10 pays qui ont la plus faible disponibilité alimentaire par habitant</a:t>
            </a:r>
            <a:endParaRPr dirty="0"/>
          </a:p>
        </p:txBody>
      </p:sp>
      <p:sp>
        <p:nvSpPr>
          <p:cNvPr id="210" name="Google Shape;210;p12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11" name="Google Shape;211;p12"/>
          <p:cNvSpPr/>
          <p:nvPr/>
        </p:nvSpPr>
        <p:spPr>
          <a:xfrm>
            <a:off x="727587" y="2222287"/>
            <a:ext cx="10698379" cy="4516695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Pays avec la plus faible disponibilité alimentaire par habitant 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600" b="1" i="0" u="none" strike="noStrike" cap="none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700" b="1" i="0" u="sng" strike="noStrike" cap="none" dirty="0">
                <a:solidFill>
                  <a:srgbClr val="E03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Pays les plus défavorisés :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endParaRPr lang="fr-FR" sz="1700" b="1" i="0" u="sng" strike="noStrike" cap="none" dirty="0">
              <a:solidFill>
                <a:srgbClr val="E039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/>
            </a:endParaRP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Rép</a:t>
            </a: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. centrafricaine, 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Zambie, 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Haïti, 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Madagascar, 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Zimbabwe, </a:t>
            </a:r>
          </a:p>
          <a:p>
            <a:pPr algn="l">
              <a:lnSpc>
                <a:spcPct val="100000"/>
              </a:lnSpc>
              <a:spcBef>
                <a:spcPts val="3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Sierra Leone,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Mozambique,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Rép</a:t>
            </a: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. dém. du Congo,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Éthiopie,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Corée du Nord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600" b="0" i="0" u="none" strike="noStrike" cap="none" dirty="0">
              <a:solidFill>
                <a:srgbClr val="000000"/>
              </a:solidFill>
              <a:latin typeface="Century Gothic"/>
            </a:endParaRPr>
          </a:p>
          <a:p>
            <a:pPr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lang="fr-FR" sz="1500" b="0" i="1" u="none" strike="noStrike" cap="none" dirty="0">
                <a:solidFill>
                  <a:srgbClr val="555555"/>
                </a:solidFill>
                <a:latin typeface="Century Gothic"/>
              </a:rPr>
              <a:t>Ces pays figurent également dans le top sous-nutrition — forte corrélation entre faible disponibilité et malnutrition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2000" cy="97050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3200"/>
              <a:buFont typeface="Century Gothic"/>
              <a:buNone/>
            </a:pPr>
            <a:r>
              <a:rPr lang="fr-FR" sz="3200" dirty="0"/>
              <a:t>10) Étude sur le manioc en Thaïlande</a:t>
            </a:r>
            <a:endParaRPr dirty="0"/>
          </a:p>
        </p:txBody>
      </p:sp>
      <p:sp>
        <p:nvSpPr>
          <p:cNvPr id="217" name="Google Shape;217;p13"/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  <p:sp>
        <p:nvSpPr>
          <p:cNvPr id="218" name="Google Shape;218;p13"/>
          <p:cNvSpPr/>
          <p:nvPr/>
        </p:nvSpPr>
        <p:spPr>
          <a:xfrm>
            <a:off x="6914712" y="2169360"/>
            <a:ext cx="5277286" cy="3799208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800" b="1" i="0" u="none" strike="noStrike" cap="none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Thaïlande — analyse du manioc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rgbClr val="5555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Sous-nutrition</a:t>
            </a:r>
            <a:r>
              <a:rPr lang="fr-FR" sz="1600" b="1" i="0" u="none" strike="noStrike" cap="none" dirty="0">
                <a:solidFill>
                  <a:srgbClr val="555555"/>
                </a:solidFill>
                <a:latin typeface="Century Gothic"/>
              </a:rPr>
              <a:t> : 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Faible proportion de sous-nourris (‹ 5 % de la population)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rgbClr val="5555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Production de manioc </a:t>
            </a:r>
            <a:r>
              <a:rPr lang="fr-FR" sz="1600" b="1" i="0" u="none" strike="noStrike" cap="none" dirty="0">
                <a:solidFill>
                  <a:srgbClr val="555555"/>
                </a:solidFill>
                <a:latin typeface="Century Gothic"/>
              </a:rPr>
              <a:t>: 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Très élevée (la Thaïlande est l’un des plus grands producteurs mondiaux)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600" b="1" i="0" u="none" strike="noStrike" cap="none" dirty="0">
                <a:solidFill>
                  <a:srgbClr val="555555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Exportations</a:t>
            </a:r>
            <a:r>
              <a:rPr lang="fr-FR" sz="1600" b="1" i="0" u="none" strike="noStrike" cap="none" dirty="0">
                <a:solidFill>
                  <a:srgbClr val="555555"/>
                </a:solidFill>
                <a:latin typeface="Century Gothic"/>
              </a:rPr>
              <a:t> : 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La grande majorité du manioc produit est exportée (principalement vers la Chine)</a:t>
            </a:r>
          </a:p>
          <a:p>
            <a:pPr algn="l">
              <a:lnSpc>
                <a:spcPct val="100000"/>
              </a:lnSpc>
              <a:spcBef>
                <a:spcPts val="50"/>
              </a:spcBef>
              <a:spcAft>
                <a:spcPts val="0"/>
              </a:spcAft>
              <a:buNone/>
            </a:pPr>
            <a:r>
              <a:rPr lang="fr-FR" sz="1600" b="1" i="1" u="none" strike="noStrike" cap="none" dirty="0">
                <a:solidFill>
                  <a:srgbClr val="E039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/>
              </a:rPr>
              <a:t>Paradoxe </a:t>
            </a:r>
            <a:r>
              <a:rPr lang="fr-FR" sz="1600" b="1" i="1" u="none" strike="noStrike" cap="none" dirty="0">
                <a:solidFill>
                  <a:srgbClr val="E03939"/>
                </a:solidFill>
                <a:latin typeface="Century Gothic"/>
              </a:rPr>
              <a:t>: </a:t>
            </a:r>
            <a:r>
              <a:rPr lang="fr-FR" sz="1600" b="0" i="0" u="none" strike="noStrike" cap="none" dirty="0">
                <a:solidFill>
                  <a:schemeClr val="bg1"/>
                </a:solidFill>
                <a:latin typeface="Century Gothic"/>
              </a:rPr>
              <a:t>Malgré une production énorme, la Thaïlande exporte massivement au lieu de consommer localement — le manioc ne contribue que peu à la disponibilité alimentaire domestique</a:t>
            </a:r>
            <a:r>
              <a:rPr lang="fr-FR" sz="1600" b="0" i="0" u="none" strike="noStrike" cap="none" dirty="0">
                <a:solidFill>
                  <a:srgbClr val="000000"/>
                </a:solidFill>
                <a:latin typeface="Century Gothic"/>
              </a:rPr>
              <a:t>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E684ADF-2861-7ACF-D2DE-A3C93136C7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69360"/>
            <a:ext cx="6914712" cy="379920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2">
          <a:extLst>
            <a:ext uri="{FF2B5EF4-FFF2-40B4-BE49-F238E27FC236}">
              <a16:creationId xmlns:a16="http://schemas.microsoft.com/office/drawing/2014/main" id="{7F6F64F5-941F-E4E7-659B-5B78D0FAA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4">
            <a:extLst>
              <a:ext uri="{FF2B5EF4-FFF2-40B4-BE49-F238E27FC236}">
                <a16:creationId xmlns:a16="http://schemas.microsoft.com/office/drawing/2014/main" id="{CD6F2516-A02A-568B-0276-8A0875DBC3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sz="3200" dirty="0"/>
              <a:t>11) Analyses complémentaires</a:t>
            </a:r>
            <a:endParaRPr sz="3200" dirty="0"/>
          </a:p>
        </p:txBody>
      </p:sp>
      <p:sp>
        <p:nvSpPr>
          <p:cNvPr id="224" name="Google Shape;224;p14">
            <a:extLst>
              <a:ext uri="{FF2B5EF4-FFF2-40B4-BE49-F238E27FC236}">
                <a16:creationId xmlns:a16="http://schemas.microsoft.com/office/drawing/2014/main" id="{A05B3530-4E03-4E3B-43DA-10CECCF77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18712" y="2222287"/>
            <a:ext cx="10554574" cy="3636511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225" name="Google Shape;225;p14">
            <a:extLst>
              <a:ext uri="{FF2B5EF4-FFF2-40B4-BE49-F238E27FC236}">
                <a16:creationId xmlns:a16="http://schemas.microsoft.com/office/drawing/2014/main" id="{B0D68C07-CA94-2796-21E5-BF034F5B47AD}"/>
              </a:ext>
            </a:extLst>
          </p:cNvPr>
          <p:cNvSpPr/>
          <p:nvPr/>
        </p:nvSpPr>
        <p:spPr>
          <a:xfrm>
            <a:off x="818712" y="2222287"/>
            <a:ext cx="10571998" cy="3742364"/>
          </a:xfrm>
          <a:prstGeom prst="rect">
            <a:avLst/>
          </a:prstGeom>
          <a:solidFill>
            <a:schemeClr val="accent1"/>
          </a:solidFill>
          <a:ln w="15875" cap="rnd" cmpd="sng">
            <a:solidFill>
              <a:srgbClr val="AE813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fr-FR" sz="1800" b="1" i="0" u="none" strike="noStrike" cap="none" dirty="0">
              <a:solidFill>
                <a:srgbClr val="0072C8"/>
              </a:solidFill>
              <a:latin typeface="Century Gothic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0B5AC0-CB9F-4C7C-09D8-E320BA65A2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023" y="3152368"/>
            <a:ext cx="9829303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Disponibilité vs sous-nutrition par région</a:t>
            </a:r>
            <a:r>
              <a:rPr kumimoji="0" lang="fr-FR" altLang="fr-FR" sz="18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certaines zones produisent assez pour nourrir leur population, mais restent en déficit à cause de conflits ou d’inégalités d’accès.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Impact des pertes alimentaires</a:t>
            </a:r>
            <a:r>
              <a:rPr kumimoji="0" lang="fr-FR" altLang="fr-FR" sz="18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Arial" panose="020B0604020202020204" pitchFamily="34" charset="0"/>
              </a:rPr>
              <a:t> :</a:t>
            </a:r>
            <a:r>
              <a:rPr kumimoji="0" lang="fr-FR" altLang="fr-FR" sz="1800" b="0" i="0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les pertes post-récolte représentent un volume qui pourrait couvrir une partie significative des besoins des populations sous-alimentées.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fr-FR" altLang="fr-FR" sz="1800" b="1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Corrélation aide alimentaire vs sous-nutrition</a:t>
            </a:r>
            <a:r>
              <a:rPr kumimoji="0" lang="fr-FR" altLang="fr-FR" sz="1800" b="0" i="0" u="sng" strike="noStrike" cap="none" normalizeH="0" baseline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: l’aide ne cible pas toujours les zones les plus touchées, ce qui interroge sur l’efficacité de sa distribution.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9856560-1534-6BC1-BF13-AF6A84BFB9F8}"/>
              </a:ext>
            </a:extLst>
          </p:cNvPr>
          <p:cNvSpPr txBox="1"/>
          <p:nvPr/>
        </p:nvSpPr>
        <p:spPr>
          <a:xfrm>
            <a:off x="1083023" y="2448232"/>
            <a:ext cx="6959763" cy="600996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>
              <a:buClr>
                <a:srgbClr val="FEFEFE"/>
              </a:buClr>
              <a:buSzPts val="4000"/>
              <a:buFont typeface="Century Gothic"/>
              <a:buNone/>
              <a:defRPr sz="3200" b="1">
                <a:solidFill>
                  <a:srgbClr val="FEFEFE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>
              <a:buSzPts val="1400"/>
              <a:buNone/>
              <a:defRPr sz="1800">
                <a:solidFill>
                  <a:schemeClr val="lt2"/>
                </a:solidFill>
              </a:defRPr>
            </a:lvl2pPr>
            <a:lvl3pPr>
              <a:buSzPts val="1400"/>
              <a:buNone/>
              <a:defRPr sz="1800">
                <a:solidFill>
                  <a:schemeClr val="lt2"/>
                </a:solidFill>
              </a:defRPr>
            </a:lvl3pPr>
            <a:lvl4pPr>
              <a:buSzPts val="1400"/>
              <a:buNone/>
              <a:defRPr sz="1800">
                <a:solidFill>
                  <a:schemeClr val="lt2"/>
                </a:solidFill>
              </a:defRPr>
            </a:lvl4pPr>
            <a:lvl5pPr>
              <a:buSzPts val="1400"/>
              <a:buNone/>
              <a:defRPr sz="1800">
                <a:solidFill>
                  <a:schemeClr val="lt2"/>
                </a:solidFill>
              </a:defRPr>
            </a:lvl5pPr>
            <a:lvl6pPr>
              <a:buSzPts val="1400"/>
              <a:buNone/>
              <a:defRPr sz="1800">
                <a:solidFill>
                  <a:schemeClr val="lt2"/>
                </a:solidFill>
              </a:defRPr>
            </a:lvl6pPr>
            <a:lvl7pPr>
              <a:buSzPts val="1400"/>
              <a:buNone/>
              <a:defRPr sz="1800">
                <a:solidFill>
                  <a:schemeClr val="lt2"/>
                </a:solidFill>
              </a:defRPr>
            </a:lvl7pPr>
            <a:lvl8pPr>
              <a:buSzPts val="1400"/>
              <a:buNone/>
              <a:defRPr sz="1800">
                <a:solidFill>
                  <a:schemeClr val="lt2"/>
                </a:solidFill>
              </a:defRPr>
            </a:lvl8pPr>
            <a:lvl9pPr>
              <a:buSzPts val="1400"/>
              <a:buNone/>
              <a:defRPr sz="1800">
                <a:solidFill>
                  <a:schemeClr val="lt2"/>
                </a:solidFill>
              </a:defRPr>
            </a:lvl9pPr>
          </a:lstStyle>
          <a:p>
            <a:r>
              <a:rPr lang="fr-FR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Observations complémentaires</a:t>
            </a:r>
          </a:p>
        </p:txBody>
      </p:sp>
    </p:spTree>
    <p:extLst>
      <p:ext uri="{BB962C8B-B14F-4D97-AF65-F5344CB8AC3E}">
        <p14:creationId xmlns:p14="http://schemas.microsoft.com/office/powerpoint/2010/main" val="596971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5"/>
          <p:cNvSpPr txBox="1"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60000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EFEFE"/>
              </a:buClr>
              <a:buSzPts val="4000"/>
              <a:buFont typeface="Century Gothic"/>
              <a:buNone/>
            </a:pPr>
            <a:r>
              <a:rPr lang="fr-FR" dirty="0"/>
              <a:t>Conclusion</a:t>
            </a:r>
            <a:endParaRPr dirty="0"/>
          </a:p>
        </p:txBody>
      </p:sp>
      <p:sp>
        <p:nvSpPr>
          <p:cNvPr id="231" name="Google Shape;231;p15"/>
          <p:cNvSpPr txBox="1">
            <a:spLocks noGrp="1"/>
          </p:cNvSpPr>
          <p:nvPr>
            <p:ph type="body" idx="1"/>
          </p:nvPr>
        </p:nvSpPr>
        <p:spPr>
          <a:xfrm>
            <a:off x="818712" y="2559430"/>
            <a:ext cx="10571998" cy="2615184"/>
          </a:xfrm>
          <a:prstGeom prst="rect">
            <a:avLst/>
          </a:prstGeom>
          <a:noFill/>
          <a:ln>
            <a:noFill/>
          </a:ln>
          <a:effectLst>
            <a:outerShdw blurRad="5080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 indent="-228600" algn="ctr">
              <a:spcBef>
                <a:spcPts val="0"/>
              </a:spcBef>
              <a:buNone/>
            </a:pPr>
            <a:r>
              <a:rPr lang="fr-FR" dirty="0"/>
              <a:t>En résumé, la faim dans le monde n’est pas due à un manque de production. </a:t>
            </a:r>
          </a:p>
          <a:p>
            <a:pPr marL="342900" lvl="0" indent="-228600" algn="ctr">
              <a:spcBef>
                <a:spcPts val="0"/>
              </a:spcBef>
              <a:buNone/>
            </a:pPr>
            <a:r>
              <a:rPr lang="fr-FR" dirty="0"/>
              <a:t>Elle est liée à la répartition, au gaspillage et à l’utilisation des ressources. </a:t>
            </a:r>
          </a:p>
          <a:p>
            <a:pPr marL="342900" lvl="0" indent="-228600" algn="ctr">
              <a:spcBef>
                <a:spcPts val="0"/>
              </a:spcBef>
              <a:buNone/>
            </a:pPr>
            <a:r>
              <a:rPr lang="fr-FR" dirty="0"/>
              <a:t>Produire plus n’est pas la solution. </a:t>
            </a:r>
          </a:p>
          <a:p>
            <a:pPr marL="342900" lvl="0" indent="-228600" algn="ctr">
              <a:spcBef>
                <a:spcPts val="0"/>
              </a:spcBef>
              <a:buNone/>
            </a:pPr>
            <a:r>
              <a:rPr lang="fr-F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La clé </a:t>
            </a:r>
            <a:r>
              <a:rPr lang="fr-FR" dirty="0"/>
              <a:t>est de mieux gérer ce que nous avons déjà, de réduire les pertes et de réorienter les ressources vers l’alimentation humaine. </a:t>
            </a:r>
            <a:endParaRPr dirty="0"/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2A779BB6-7E3A-029B-6EFA-6629069F7CF6}"/>
              </a:ext>
            </a:extLst>
          </p:cNvPr>
          <p:cNvGrpSpPr/>
          <p:nvPr/>
        </p:nvGrpSpPr>
        <p:grpSpPr>
          <a:xfrm>
            <a:off x="327871" y="5526649"/>
            <a:ext cx="1687412" cy="974191"/>
            <a:chOff x="327871" y="5526649"/>
            <a:chExt cx="1687412" cy="974191"/>
          </a:xfrm>
        </p:grpSpPr>
        <p:sp>
          <p:nvSpPr>
            <p:cNvPr id="5" name="Ellipse 4">
              <a:extLst>
                <a:ext uri="{FF2B5EF4-FFF2-40B4-BE49-F238E27FC236}">
                  <a16:creationId xmlns:a16="http://schemas.microsoft.com/office/drawing/2014/main" id="{46EA6DE5-61FA-E7D3-4C38-39A2511E401E}"/>
                </a:ext>
              </a:extLst>
            </p:cNvPr>
            <p:cNvSpPr/>
            <p:nvPr/>
          </p:nvSpPr>
          <p:spPr>
            <a:xfrm>
              <a:off x="1646719" y="5526649"/>
              <a:ext cx="238577" cy="238577"/>
            </a:xfrm>
            <a:prstGeom prst="ellipse">
              <a:avLst/>
            </a:prstGeom>
            <a:solidFill>
              <a:schemeClr val="accent1"/>
            </a:solidFill>
            <a:ln w="19844" cap="flat">
              <a:noFill/>
              <a:prstDash val="solid"/>
              <a:miter/>
            </a:ln>
          </p:spPr>
          <p:txBody>
            <a:bodyPr/>
            <a:lstStyle/>
            <a:p>
              <a:endParaRPr lang="fr-FR" b="1"/>
            </a:p>
          </p:txBody>
        </p:sp>
        <p:sp>
          <p:nvSpPr>
            <p:cNvPr id="6" name="Forme libre : forme 5">
              <a:extLst>
                <a:ext uri="{FF2B5EF4-FFF2-40B4-BE49-F238E27FC236}">
                  <a16:creationId xmlns:a16="http://schemas.microsoft.com/office/drawing/2014/main" id="{A3673B14-8C8D-9BFE-B270-96A74022D6C1}"/>
                </a:ext>
              </a:extLst>
            </p:cNvPr>
            <p:cNvSpPr/>
            <p:nvPr/>
          </p:nvSpPr>
          <p:spPr>
            <a:xfrm>
              <a:off x="327871" y="5804990"/>
              <a:ext cx="1687412" cy="695850"/>
            </a:xfrm>
            <a:custGeom>
              <a:avLst/>
              <a:gdLst>
                <a:gd name="csX0" fmla="*/ 1684667 w 1687412"/>
                <a:gd name="csY0" fmla="*/ 320091 h 695850"/>
                <a:gd name="csX1" fmla="*/ 1625022 w 1687412"/>
                <a:gd name="csY1" fmla="*/ 139170 h 695850"/>
                <a:gd name="csX2" fmla="*/ 1605141 w 1687412"/>
                <a:gd name="csY2" fmla="*/ 81514 h 695850"/>
                <a:gd name="csX3" fmla="*/ 1597188 w 1687412"/>
                <a:gd name="csY3" fmla="*/ 65609 h 695850"/>
                <a:gd name="csX4" fmla="*/ 1475912 w 1687412"/>
                <a:gd name="csY4" fmla="*/ 1988 h 695850"/>
                <a:gd name="csX5" fmla="*/ 1438137 w 1687412"/>
                <a:gd name="csY5" fmla="*/ 0 h 695850"/>
                <a:gd name="csX6" fmla="*/ 1404338 w 1687412"/>
                <a:gd name="csY6" fmla="*/ 1988 h 695850"/>
                <a:gd name="csX7" fmla="*/ 1283061 w 1687412"/>
                <a:gd name="csY7" fmla="*/ 65609 h 695850"/>
                <a:gd name="csX8" fmla="*/ 1275109 w 1687412"/>
                <a:gd name="csY8" fmla="*/ 81514 h 695850"/>
                <a:gd name="csX9" fmla="*/ 1255228 w 1687412"/>
                <a:gd name="csY9" fmla="*/ 139170 h 695850"/>
                <a:gd name="csX10" fmla="*/ 1241310 w 1687412"/>
                <a:gd name="csY10" fmla="*/ 180921 h 695850"/>
                <a:gd name="csX11" fmla="*/ 1225405 w 1687412"/>
                <a:gd name="csY11" fmla="*/ 139170 h 695850"/>
                <a:gd name="csX12" fmla="*/ 1205524 w 1687412"/>
                <a:gd name="csY12" fmla="*/ 81514 h 695850"/>
                <a:gd name="csX13" fmla="*/ 1197571 w 1687412"/>
                <a:gd name="csY13" fmla="*/ 65609 h 695850"/>
                <a:gd name="csX14" fmla="*/ 1076294 w 1687412"/>
                <a:gd name="csY14" fmla="*/ 1988 h 695850"/>
                <a:gd name="csX15" fmla="*/ 1040508 w 1687412"/>
                <a:gd name="csY15" fmla="*/ 0 h 695850"/>
                <a:gd name="csX16" fmla="*/ 1006709 w 1687412"/>
                <a:gd name="csY16" fmla="*/ 1988 h 695850"/>
                <a:gd name="csX17" fmla="*/ 885433 w 1687412"/>
                <a:gd name="csY17" fmla="*/ 65609 h 695850"/>
                <a:gd name="csX18" fmla="*/ 877480 w 1687412"/>
                <a:gd name="csY18" fmla="*/ 81514 h 695850"/>
                <a:gd name="csX19" fmla="*/ 857598 w 1687412"/>
                <a:gd name="csY19" fmla="*/ 139170 h 695850"/>
                <a:gd name="csX20" fmla="*/ 843681 w 1687412"/>
                <a:gd name="csY20" fmla="*/ 180921 h 695850"/>
                <a:gd name="csX21" fmla="*/ 827776 w 1687412"/>
                <a:gd name="csY21" fmla="*/ 139170 h 695850"/>
                <a:gd name="csX22" fmla="*/ 807895 w 1687412"/>
                <a:gd name="csY22" fmla="*/ 81514 h 695850"/>
                <a:gd name="csX23" fmla="*/ 799942 w 1687412"/>
                <a:gd name="csY23" fmla="*/ 65609 h 695850"/>
                <a:gd name="csX24" fmla="*/ 678665 w 1687412"/>
                <a:gd name="csY24" fmla="*/ 1988 h 695850"/>
                <a:gd name="csX25" fmla="*/ 642879 w 1687412"/>
                <a:gd name="csY25" fmla="*/ 0 h 695850"/>
                <a:gd name="csX26" fmla="*/ 609080 w 1687412"/>
                <a:gd name="csY26" fmla="*/ 1988 h 695850"/>
                <a:gd name="csX27" fmla="*/ 487804 w 1687412"/>
                <a:gd name="csY27" fmla="*/ 65609 h 695850"/>
                <a:gd name="csX28" fmla="*/ 479851 w 1687412"/>
                <a:gd name="csY28" fmla="*/ 81514 h 695850"/>
                <a:gd name="csX29" fmla="*/ 459969 w 1687412"/>
                <a:gd name="csY29" fmla="*/ 139170 h 695850"/>
                <a:gd name="csX30" fmla="*/ 446053 w 1687412"/>
                <a:gd name="csY30" fmla="*/ 180921 h 695850"/>
                <a:gd name="csX31" fmla="*/ 430147 w 1687412"/>
                <a:gd name="csY31" fmla="*/ 139170 h 695850"/>
                <a:gd name="csX32" fmla="*/ 410266 w 1687412"/>
                <a:gd name="csY32" fmla="*/ 81514 h 695850"/>
                <a:gd name="csX33" fmla="*/ 402313 w 1687412"/>
                <a:gd name="csY33" fmla="*/ 65609 h 695850"/>
                <a:gd name="csX34" fmla="*/ 281036 w 1687412"/>
                <a:gd name="csY34" fmla="*/ 1988 h 695850"/>
                <a:gd name="csX35" fmla="*/ 245250 w 1687412"/>
                <a:gd name="csY35" fmla="*/ 0 h 695850"/>
                <a:gd name="csX36" fmla="*/ 211451 w 1687412"/>
                <a:gd name="csY36" fmla="*/ 1988 h 695850"/>
                <a:gd name="csX37" fmla="*/ 90175 w 1687412"/>
                <a:gd name="csY37" fmla="*/ 65609 h 695850"/>
                <a:gd name="csX38" fmla="*/ 82222 w 1687412"/>
                <a:gd name="csY38" fmla="*/ 81514 h 695850"/>
                <a:gd name="csX39" fmla="*/ 62341 w 1687412"/>
                <a:gd name="csY39" fmla="*/ 139170 h 695850"/>
                <a:gd name="csX40" fmla="*/ 2696 w 1687412"/>
                <a:gd name="csY40" fmla="*/ 320091 h 695850"/>
                <a:gd name="csX41" fmla="*/ 28542 w 1687412"/>
                <a:gd name="csY41" fmla="*/ 383712 h 695850"/>
                <a:gd name="csX42" fmla="*/ 50412 w 1687412"/>
                <a:gd name="csY42" fmla="*/ 387688 h 695850"/>
                <a:gd name="csX43" fmla="*/ 98127 w 1687412"/>
                <a:gd name="csY43" fmla="*/ 353890 h 695850"/>
                <a:gd name="csX44" fmla="*/ 129937 w 1687412"/>
                <a:gd name="csY44" fmla="*/ 256471 h 695850"/>
                <a:gd name="csX45" fmla="*/ 129937 w 1687412"/>
                <a:gd name="csY45" fmla="*/ 355878 h 695850"/>
                <a:gd name="csX46" fmla="*/ 70293 w 1687412"/>
                <a:gd name="csY46" fmla="*/ 514930 h 695850"/>
                <a:gd name="csX47" fmla="*/ 129937 w 1687412"/>
                <a:gd name="csY47" fmla="*/ 514930 h 695850"/>
                <a:gd name="csX48" fmla="*/ 129937 w 1687412"/>
                <a:gd name="csY48" fmla="*/ 693863 h 695850"/>
                <a:gd name="csX49" fmla="*/ 229345 w 1687412"/>
                <a:gd name="csY49" fmla="*/ 693863 h 695850"/>
                <a:gd name="csX50" fmla="*/ 229345 w 1687412"/>
                <a:gd name="csY50" fmla="*/ 514930 h 695850"/>
                <a:gd name="csX51" fmla="*/ 269108 w 1687412"/>
                <a:gd name="csY51" fmla="*/ 514930 h 695850"/>
                <a:gd name="csX52" fmla="*/ 269108 w 1687412"/>
                <a:gd name="csY52" fmla="*/ 693863 h 695850"/>
                <a:gd name="csX53" fmla="*/ 368515 w 1687412"/>
                <a:gd name="csY53" fmla="*/ 693863 h 695850"/>
                <a:gd name="csX54" fmla="*/ 368515 w 1687412"/>
                <a:gd name="csY54" fmla="*/ 514930 h 695850"/>
                <a:gd name="csX55" fmla="*/ 428159 w 1687412"/>
                <a:gd name="csY55" fmla="*/ 514930 h 695850"/>
                <a:gd name="csX56" fmla="*/ 368515 w 1687412"/>
                <a:gd name="csY56" fmla="*/ 351902 h 695850"/>
                <a:gd name="csX57" fmla="*/ 368515 w 1687412"/>
                <a:gd name="csY57" fmla="*/ 254483 h 695850"/>
                <a:gd name="csX58" fmla="*/ 400325 w 1687412"/>
                <a:gd name="csY58" fmla="*/ 351902 h 695850"/>
                <a:gd name="csX59" fmla="*/ 448041 w 1687412"/>
                <a:gd name="csY59" fmla="*/ 385700 h 695850"/>
                <a:gd name="csX60" fmla="*/ 448041 w 1687412"/>
                <a:gd name="csY60" fmla="*/ 385700 h 695850"/>
                <a:gd name="csX61" fmla="*/ 448041 w 1687412"/>
                <a:gd name="csY61" fmla="*/ 385700 h 695850"/>
                <a:gd name="csX62" fmla="*/ 448041 w 1687412"/>
                <a:gd name="csY62" fmla="*/ 385700 h 695850"/>
                <a:gd name="csX63" fmla="*/ 448041 w 1687412"/>
                <a:gd name="csY63" fmla="*/ 385700 h 695850"/>
                <a:gd name="csX64" fmla="*/ 495756 w 1687412"/>
                <a:gd name="csY64" fmla="*/ 351902 h 695850"/>
                <a:gd name="csX65" fmla="*/ 527566 w 1687412"/>
                <a:gd name="csY65" fmla="*/ 254483 h 695850"/>
                <a:gd name="csX66" fmla="*/ 527566 w 1687412"/>
                <a:gd name="csY66" fmla="*/ 695851 h 695850"/>
                <a:gd name="csX67" fmla="*/ 626974 w 1687412"/>
                <a:gd name="csY67" fmla="*/ 695851 h 695850"/>
                <a:gd name="csX68" fmla="*/ 626974 w 1687412"/>
                <a:gd name="csY68" fmla="*/ 397629 h 695850"/>
                <a:gd name="csX69" fmla="*/ 666737 w 1687412"/>
                <a:gd name="csY69" fmla="*/ 397629 h 695850"/>
                <a:gd name="csX70" fmla="*/ 666737 w 1687412"/>
                <a:gd name="csY70" fmla="*/ 695851 h 695850"/>
                <a:gd name="csX71" fmla="*/ 766144 w 1687412"/>
                <a:gd name="csY71" fmla="*/ 695851 h 695850"/>
                <a:gd name="csX72" fmla="*/ 766144 w 1687412"/>
                <a:gd name="csY72" fmla="*/ 256471 h 695850"/>
                <a:gd name="csX73" fmla="*/ 797954 w 1687412"/>
                <a:gd name="csY73" fmla="*/ 353890 h 695850"/>
                <a:gd name="csX74" fmla="*/ 845670 w 1687412"/>
                <a:gd name="csY74" fmla="*/ 387688 h 695850"/>
                <a:gd name="csX75" fmla="*/ 845670 w 1687412"/>
                <a:gd name="csY75" fmla="*/ 387688 h 695850"/>
                <a:gd name="csX76" fmla="*/ 845670 w 1687412"/>
                <a:gd name="csY76" fmla="*/ 387688 h 695850"/>
                <a:gd name="csX77" fmla="*/ 893385 w 1687412"/>
                <a:gd name="csY77" fmla="*/ 353890 h 695850"/>
                <a:gd name="csX78" fmla="*/ 925195 w 1687412"/>
                <a:gd name="csY78" fmla="*/ 256471 h 695850"/>
                <a:gd name="csX79" fmla="*/ 925195 w 1687412"/>
                <a:gd name="csY79" fmla="*/ 353890 h 695850"/>
                <a:gd name="csX80" fmla="*/ 865551 w 1687412"/>
                <a:gd name="csY80" fmla="*/ 516918 h 695850"/>
                <a:gd name="csX81" fmla="*/ 925195 w 1687412"/>
                <a:gd name="csY81" fmla="*/ 516918 h 695850"/>
                <a:gd name="csX82" fmla="*/ 925195 w 1687412"/>
                <a:gd name="csY82" fmla="*/ 695851 h 695850"/>
                <a:gd name="csX83" fmla="*/ 1024603 w 1687412"/>
                <a:gd name="csY83" fmla="*/ 695851 h 695850"/>
                <a:gd name="csX84" fmla="*/ 1024603 w 1687412"/>
                <a:gd name="csY84" fmla="*/ 516918 h 695850"/>
                <a:gd name="csX85" fmla="*/ 1064366 w 1687412"/>
                <a:gd name="csY85" fmla="*/ 516918 h 695850"/>
                <a:gd name="csX86" fmla="*/ 1064366 w 1687412"/>
                <a:gd name="csY86" fmla="*/ 695851 h 695850"/>
                <a:gd name="csX87" fmla="*/ 1163773 w 1687412"/>
                <a:gd name="csY87" fmla="*/ 695851 h 695850"/>
                <a:gd name="csX88" fmla="*/ 1163773 w 1687412"/>
                <a:gd name="csY88" fmla="*/ 516918 h 695850"/>
                <a:gd name="csX89" fmla="*/ 1223417 w 1687412"/>
                <a:gd name="csY89" fmla="*/ 516918 h 695850"/>
                <a:gd name="csX90" fmla="*/ 1163773 w 1687412"/>
                <a:gd name="csY90" fmla="*/ 357866 h 695850"/>
                <a:gd name="csX91" fmla="*/ 1163773 w 1687412"/>
                <a:gd name="csY91" fmla="*/ 258459 h 695850"/>
                <a:gd name="csX92" fmla="*/ 1195583 w 1687412"/>
                <a:gd name="csY92" fmla="*/ 355878 h 695850"/>
                <a:gd name="csX93" fmla="*/ 1243299 w 1687412"/>
                <a:gd name="csY93" fmla="*/ 389676 h 695850"/>
                <a:gd name="csX94" fmla="*/ 1243299 w 1687412"/>
                <a:gd name="csY94" fmla="*/ 389676 h 695850"/>
                <a:gd name="csX95" fmla="*/ 1243299 w 1687412"/>
                <a:gd name="csY95" fmla="*/ 389676 h 695850"/>
                <a:gd name="csX96" fmla="*/ 1243299 w 1687412"/>
                <a:gd name="csY96" fmla="*/ 389676 h 695850"/>
                <a:gd name="csX97" fmla="*/ 1243299 w 1687412"/>
                <a:gd name="csY97" fmla="*/ 389676 h 695850"/>
                <a:gd name="csX98" fmla="*/ 1291014 w 1687412"/>
                <a:gd name="csY98" fmla="*/ 355878 h 695850"/>
                <a:gd name="csX99" fmla="*/ 1322824 w 1687412"/>
                <a:gd name="csY99" fmla="*/ 258459 h 695850"/>
                <a:gd name="csX100" fmla="*/ 1322824 w 1687412"/>
                <a:gd name="csY100" fmla="*/ 695851 h 695850"/>
                <a:gd name="csX101" fmla="*/ 1422232 w 1687412"/>
                <a:gd name="csY101" fmla="*/ 695851 h 695850"/>
                <a:gd name="csX102" fmla="*/ 1422232 w 1687412"/>
                <a:gd name="csY102" fmla="*/ 397629 h 695850"/>
                <a:gd name="csX103" fmla="*/ 1461994 w 1687412"/>
                <a:gd name="csY103" fmla="*/ 397629 h 695850"/>
                <a:gd name="csX104" fmla="*/ 1461994 w 1687412"/>
                <a:gd name="csY104" fmla="*/ 695851 h 695850"/>
                <a:gd name="csX105" fmla="*/ 1561402 w 1687412"/>
                <a:gd name="csY105" fmla="*/ 695851 h 695850"/>
                <a:gd name="csX106" fmla="*/ 1561402 w 1687412"/>
                <a:gd name="csY106" fmla="*/ 256471 h 695850"/>
                <a:gd name="csX107" fmla="*/ 1593212 w 1687412"/>
                <a:gd name="csY107" fmla="*/ 353890 h 695850"/>
                <a:gd name="csX108" fmla="*/ 1640928 w 1687412"/>
                <a:gd name="csY108" fmla="*/ 387688 h 695850"/>
                <a:gd name="csX109" fmla="*/ 1662797 w 1687412"/>
                <a:gd name="csY109" fmla="*/ 383712 h 695850"/>
                <a:gd name="csX110" fmla="*/ 1684667 w 1687412"/>
                <a:gd name="csY110" fmla="*/ 320091 h 6958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  <a:cxn ang="0">
                  <a:pos x="csX100" y="csY100"/>
                </a:cxn>
                <a:cxn ang="0">
                  <a:pos x="csX101" y="csY101"/>
                </a:cxn>
                <a:cxn ang="0">
                  <a:pos x="csX102" y="csY102"/>
                </a:cxn>
                <a:cxn ang="0">
                  <a:pos x="csX103" y="csY103"/>
                </a:cxn>
                <a:cxn ang="0">
                  <a:pos x="csX104" y="csY104"/>
                </a:cxn>
                <a:cxn ang="0">
                  <a:pos x="csX105" y="csY105"/>
                </a:cxn>
                <a:cxn ang="0">
                  <a:pos x="csX106" y="csY106"/>
                </a:cxn>
                <a:cxn ang="0">
                  <a:pos x="csX107" y="csY107"/>
                </a:cxn>
                <a:cxn ang="0">
                  <a:pos x="csX108" y="csY108"/>
                </a:cxn>
                <a:cxn ang="0">
                  <a:pos x="csX109" y="csY109"/>
                </a:cxn>
                <a:cxn ang="0">
                  <a:pos x="csX110" y="csY110"/>
                </a:cxn>
              </a:cxnLst>
              <a:rect l="l" t="t" r="r" b="b"/>
              <a:pathLst>
                <a:path w="1687412" h="695850">
                  <a:moveTo>
                    <a:pt x="1684667" y="320091"/>
                  </a:moveTo>
                  <a:lnTo>
                    <a:pt x="1625022" y="139170"/>
                  </a:lnTo>
                  <a:lnTo>
                    <a:pt x="1605141" y="81514"/>
                  </a:lnTo>
                  <a:cubicBezTo>
                    <a:pt x="1603153" y="75549"/>
                    <a:pt x="1601165" y="71573"/>
                    <a:pt x="1597188" y="65609"/>
                  </a:cubicBezTo>
                  <a:cubicBezTo>
                    <a:pt x="1565378" y="31810"/>
                    <a:pt x="1523627" y="9941"/>
                    <a:pt x="1475912" y="1988"/>
                  </a:cubicBezTo>
                  <a:cubicBezTo>
                    <a:pt x="1461994" y="0"/>
                    <a:pt x="1450066" y="0"/>
                    <a:pt x="1438137" y="0"/>
                  </a:cubicBezTo>
                  <a:cubicBezTo>
                    <a:pt x="1426208" y="0"/>
                    <a:pt x="1414279" y="0"/>
                    <a:pt x="1404338" y="1988"/>
                  </a:cubicBezTo>
                  <a:cubicBezTo>
                    <a:pt x="1356623" y="9941"/>
                    <a:pt x="1314872" y="31810"/>
                    <a:pt x="1283061" y="65609"/>
                  </a:cubicBezTo>
                  <a:cubicBezTo>
                    <a:pt x="1279085" y="69585"/>
                    <a:pt x="1275109" y="75549"/>
                    <a:pt x="1275109" y="81514"/>
                  </a:cubicBezTo>
                  <a:lnTo>
                    <a:pt x="1255228" y="139170"/>
                  </a:lnTo>
                  <a:lnTo>
                    <a:pt x="1241310" y="180921"/>
                  </a:lnTo>
                  <a:lnTo>
                    <a:pt x="1225405" y="139170"/>
                  </a:lnTo>
                  <a:lnTo>
                    <a:pt x="1205524" y="81514"/>
                  </a:lnTo>
                  <a:cubicBezTo>
                    <a:pt x="1203536" y="75549"/>
                    <a:pt x="1201548" y="71573"/>
                    <a:pt x="1197571" y="65609"/>
                  </a:cubicBezTo>
                  <a:cubicBezTo>
                    <a:pt x="1165761" y="31810"/>
                    <a:pt x="1124010" y="9941"/>
                    <a:pt x="1076294" y="1988"/>
                  </a:cubicBezTo>
                  <a:cubicBezTo>
                    <a:pt x="1064366" y="0"/>
                    <a:pt x="1052437" y="0"/>
                    <a:pt x="1040508" y="0"/>
                  </a:cubicBezTo>
                  <a:cubicBezTo>
                    <a:pt x="1028579" y="0"/>
                    <a:pt x="1016650" y="0"/>
                    <a:pt x="1006709" y="1988"/>
                  </a:cubicBezTo>
                  <a:cubicBezTo>
                    <a:pt x="958994" y="9941"/>
                    <a:pt x="917243" y="31810"/>
                    <a:pt x="885433" y="65609"/>
                  </a:cubicBezTo>
                  <a:cubicBezTo>
                    <a:pt x="881456" y="69585"/>
                    <a:pt x="877480" y="75549"/>
                    <a:pt x="877480" y="81514"/>
                  </a:cubicBezTo>
                  <a:lnTo>
                    <a:pt x="857598" y="139170"/>
                  </a:lnTo>
                  <a:lnTo>
                    <a:pt x="843681" y="180921"/>
                  </a:lnTo>
                  <a:lnTo>
                    <a:pt x="827776" y="139170"/>
                  </a:lnTo>
                  <a:lnTo>
                    <a:pt x="807895" y="81514"/>
                  </a:lnTo>
                  <a:cubicBezTo>
                    <a:pt x="805907" y="75549"/>
                    <a:pt x="803919" y="71573"/>
                    <a:pt x="799942" y="65609"/>
                  </a:cubicBezTo>
                  <a:cubicBezTo>
                    <a:pt x="768132" y="31810"/>
                    <a:pt x="726381" y="9941"/>
                    <a:pt x="678665" y="1988"/>
                  </a:cubicBezTo>
                  <a:cubicBezTo>
                    <a:pt x="666737" y="0"/>
                    <a:pt x="654808" y="0"/>
                    <a:pt x="642879" y="0"/>
                  </a:cubicBezTo>
                  <a:cubicBezTo>
                    <a:pt x="630950" y="0"/>
                    <a:pt x="619021" y="0"/>
                    <a:pt x="609080" y="1988"/>
                  </a:cubicBezTo>
                  <a:cubicBezTo>
                    <a:pt x="561365" y="9941"/>
                    <a:pt x="519614" y="31810"/>
                    <a:pt x="487804" y="65609"/>
                  </a:cubicBezTo>
                  <a:cubicBezTo>
                    <a:pt x="483827" y="69585"/>
                    <a:pt x="479851" y="75549"/>
                    <a:pt x="479851" y="81514"/>
                  </a:cubicBezTo>
                  <a:lnTo>
                    <a:pt x="459969" y="139170"/>
                  </a:lnTo>
                  <a:lnTo>
                    <a:pt x="446053" y="180921"/>
                  </a:lnTo>
                  <a:lnTo>
                    <a:pt x="430147" y="139170"/>
                  </a:lnTo>
                  <a:lnTo>
                    <a:pt x="410266" y="81514"/>
                  </a:lnTo>
                  <a:cubicBezTo>
                    <a:pt x="408278" y="75549"/>
                    <a:pt x="406290" y="71573"/>
                    <a:pt x="402313" y="65609"/>
                  </a:cubicBezTo>
                  <a:cubicBezTo>
                    <a:pt x="370503" y="31810"/>
                    <a:pt x="328752" y="9941"/>
                    <a:pt x="281036" y="1988"/>
                  </a:cubicBezTo>
                  <a:cubicBezTo>
                    <a:pt x="267119" y="0"/>
                    <a:pt x="257179" y="0"/>
                    <a:pt x="245250" y="0"/>
                  </a:cubicBezTo>
                  <a:cubicBezTo>
                    <a:pt x="233321" y="0"/>
                    <a:pt x="221392" y="0"/>
                    <a:pt x="211451" y="1988"/>
                  </a:cubicBezTo>
                  <a:cubicBezTo>
                    <a:pt x="163736" y="9941"/>
                    <a:pt x="121985" y="31810"/>
                    <a:pt x="90175" y="65609"/>
                  </a:cubicBezTo>
                  <a:cubicBezTo>
                    <a:pt x="86198" y="69585"/>
                    <a:pt x="82222" y="75549"/>
                    <a:pt x="82222" y="81514"/>
                  </a:cubicBezTo>
                  <a:lnTo>
                    <a:pt x="62341" y="139170"/>
                  </a:lnTo>
                  <a:lnTo>
                    <a:pt x="2696" y="320091"/>
                  </a:lnTo>
                  <a:cubicBezTo>
                    <a:pt x="-5256" y="343949"/>
                    <a:pt x="4684" y="371783"/>
                    <a:pt x="28542" y="383712"/>
                  </a:cubicBezTo>
                  <a:cubicBezTo>
                    <a:pt x="36495" y="387688"/>
                    <a:pt x="42459" y="387688"/>
                    <a:pt x="50412" y="387688"/>
                  </a:cubicBezTo>
                  <a:cubicBezTo>
                    <a:pt x="70293" y="387688"/>
                    <a:pt x="90175" y="373771"/>
                    <a:pt x="98127" y="353890"/>
                  </a:cubicBezTo>
                  <a:lnTo>
                    <a:pt x="129937" y="256471"/>
                  </a:lnTo>
                  <a:lnTo>
                    <a:pt x="129937" y="355878"/>
                  </a:lnTo>
                  <a:lnTo>
                    <a:pt x="70293" y="514930"/>
                  </a:lnTo>
                  <a:lnTo>
                    <a:pt x="129937" y="514930"/>
                  </a:lnTo>
                  <a:lnTo>
                    <a:pt x="129937" y="693863"/>
                  </a:lnTo>
                  <a:lnTo>
                    <a:pt x="229345" y="693863"/>
                  </a:lnTo>
                  <a:lnTo>
                    <a:pt x="229345" y="514930"/>
                  </a:lnTo>
                  <a:lnTo>
                    <a:pt x="269108" y="514930"/>
                  </a:lnTo>
                  <a:lnTo>
                    <a:pt x="269108" y="693863"/>
                  </a:lnTo>
                  <a:lnTo>
                    <a:pt x="368515" y="693863"/>
                  </a:lnTo>
                  <a:lnTo>
                    <a:pt x="368515" y="514930"/>
                  </a:lnTo>
                  <a:lnTo>
                    <a:pt x="428159" y="514930"/>
                  </a:lnTo>
                  <a:lnTo>
                    <a:pt x="368515" y="351902"/>
                  </a:lnTo>
                  <a:lnTo>
                    <a:pt x="368515" y="254483"/>
                  </a:lnTo>
                  <a:lnTo>
                    <a:pt x="400325" y="351902"/>
                  </a:lnTo>
                  <a:cubicBezTo>
                    <a:pt x="406290" y="371783"/>
                    <a:pt x="426171" y="385700"/>
                    <a:pt x="448041" y="385700"/>
                  </a:cubicBezTo>
                  <a:cubicBezTo>
                    <a:pt x="448041" y="385700"/>
                    <a:pt x="448041" y="385700"/>
                    <a:pt x="448041" y="385700"/>
                  </a:cubicBezTo>
                  <a:cubicBezTo>
                    <a:pt x="448041" y="385700"/>
                    <a:pt x="448041" y="385700"/>
                    <a:pt x="448041" y="385700"/>
                  </a:cubicBezTo>
                  <a:lnTo>
                    <a:pt x="448041" y="385700"/>
                  </a:lnTo>
                  <a:lnTo>
                    <a:pt x="448041" y="385700"/>
                  </a:lnTo>
                  <a:cubicBezTo>
                    <a:pt x="467922" y="385700"/>
                    <a:pt x="487804" y="371783"/>
                    <a:pt x="495756" y="351902"/>
                  </a:cubicBezTo>
                  <a:lnTo>
                    <a:pt x="527566" y="254483"/>
                  </a:lnTo>
                  <a:lnTo>
                    <a:pt x="527566" y="695851"/>
                  </a:lnTo>
                  <a:lnTo>
                    <a:pt x="626974" y="695851"/>
                  </a:lnTo>
                  <a:lnTo>
                    <a:pt x="626974" y="397629"/>
                  </a:lnTo>
                  <a:lnTo>
                    <a:pt x="666737" y="397629"/>
                  </a:lnTo>
                  <a:lnTo>
                    <a:pt x="666737" y="695851"/>
                  </a:lnTo>
                  <a:lnTo>
                    <a:pt x="766144" y="695851"/>
                  </a:lnTo>
                  <a:lnTo>
                    <a:pt x="766144" y="256471"/>
                  </a:lnTo>
                  <a:lnTo>
                    <a:pt x="797954" y="353890"/>
                  </a:lnTo>
                  <a:cubicBezTo>
                    <a:pt x="805907" y="375759"/>
                    <a:pt x="823800" y="387688"/>
                    <a:pt x="845670" y="387688"/>
                  </a:cubicBezTo>
                  <a:lnTo>
                    <a:pt x="845670" y="387688"/>
                  </a:lnTo>
                  <a:cubicBezTo>
                    <a:pt x="845670" y="387688"/>
                    <a:pt x="845670" y="387688"/>
                    <a:pt x="845670" y="387688"/>
                  </a:cubicBezTo>
                  <a:cubicBezTo>
                    <a:pt x="865551" y="387688"/>
                    <a:pt x="885433" y="373771"/>
                    <a:pt x="893385" y="353890"/>
                  </a:cubicBezTo>
                  <a:lnTo>
                    <a:pt x="925195" y="256471"/>
                  </a:lnTo>
                  <a:lnTo>
                    <a:pt x="925195" y="353890"/>
                  </a:lnTo>
                  <a:lnTo>
                    <a:pt x="865551" y="516918"/>
                  </a:lnTo>
                  <a:lnTo>
                    <a:pt x="925195" y="516918"/>
                  </a:lnTo>
                  <a:lnTo>
                    <a:pt x="925195" y="695851"/>
                  </a:lnTo>
                  <a:lnTo>
                    <a:pt x="1024603" y="695851"/>
                  </a:lnTo>
                  <a:lnTo>
                    <a:pt x="1024603" y="516918"/>
                  </a:lnTo>
                  <a:lnTo>
                    <a:pt x="1064366" y="516918"/>
                  </a:lnTo>
                  <a:lnTo>
                    <a:pt x="1064366" y="695851"/>
                  </a:lnTo>
                  <a:lnTo>
                    <a:pt x="1163773" y="695851"/>
                  </a:lnTo>
                  <a:lnTo>
                    <a:pt x="1163773" y="516918"/>
                  </a:lnTo>
                  <a:lnTo>
                    <a:pt x="1223417" y="516918"/>
                  </a:lnTo>
                  <a:lnTo>
                    <a:pt x="1163773" y="357866"/>
                  </a:lnTo>
                  <a:lnTo>
                    <a:pt x="1163773" y="258459"/>
                  </a:lnTo>
                  <a:lnTo>
                    <a:pt x="1195583" y="355878"/>
                  </a:lnTo>
                  <a:cubicBezTo>
                    <a:pt x="1201548" y="375759"/>
                    <a:pt x="1221429" y="389676"/>
                    <a:pt x="1243299" y="389676"/>
                  </a:cubicBezTo>
                  <a:cubicBezTo>
                    <a:pt x="1243299" y="389676"/>
                    <a:pt x="1243299" y="389676"/>
                    <a:pt x="1243299" y="389676"/>
                  </a:cubicBezTo>
                  <a:cubicBezTo>
                    <a:pt x="1243299" y="389676"/>
                    <a:pt x="1243299" y="389676"/>
                    <a:pt x="1243299" y="389676"/>
                  </a:cubicBezTo>
                  <a:cubicBezTo>
                    <a:pt x="1243299" y="389676"/>
                    <a:pt x="1243299" y="389676"/>
                    <a:pt x="1243299" y="389676"/>
                  </a:cubicBezTo>
                  <a:cubicBezTo>
                    <a:pt x="1243299" y="389676"/>
                    <a:pt x="1243299" y="389676"/>
                    <a:pt x="1243299" y="389676"/>
                  </a:cubicBezTo>
                  <a:cubicBezTo>
                    <a:pt x="1263180" y="389676"/>
                    <a:pt x="1283061" y="375759"/>
                    <a:pt x="1291014" y="355878"/>
                  </a:cubicBezTo>
                  <a:lnTo>
                    <a:pt x="1322824" y="258459"/>
                  </a:lnTo>
                  <a:lnTo>
                    <a:pt x="1322824" y="695851"/>
                  </a:lnTo>
                  <a:lnTo>
                    <a:pt x="1422232" y="695851"/>
                  </a:lnTo>
                  <a:lnTo>
                    <a:pt x="1422232" y="397629"/>
                  </a:lnTo>
                  <a:lnTo>
                    <a:pt x="1461994" y="397629"/>
                  </a:lnTo>
                  <a:lnTo>
                    <a:pt x="1461994" y="695851"/>
                  </a:lnTo>
                  <a:lnTo>
                    <a:pt x="1561402" y="695851"/>
                  </a:lnTo>
                  <a:lnTo>
                    <a:pt x="1561402" y="256471"/>
                  </a:lnTo>
                  <a:lnTo>
                    <a:pt x="1593212" y="353890"/>
                  </a:lnTo>
                  <a:cubicBezTo>
                    <a:pt x="1599176" y="373771"/>
                    <a:pt x="1619058" y="387688"/>
                    <a:pt x="1640928" y="387688"/>
                  </a:cubicBezTo>
                  <a:cubicBezTo>
                    <a:pt x="1648880" y="387688"/>
                    <a:pt x="1654845" y="385700"/>
                    <a:pt x="1662797" y="383712"/>
                  </a:cubicBezTo>
                  <a:cubicBezTo>
                    <a:pt x="1682679" y="371783"/>
                    <a:pt x="1692619" y="343949"/>
                    <a:pt x="1684667" y="320091"/>
                  </a:cubicBezTo>
                  <a:close/>
                </a:path>
              </a:pathLst>
            </a:custGeom>
            <a:solidFill>
              <a:schemeClr val="accent1"/>
            </a:solidFill>
            <a:ln w="19844" cap="flat">
              <a:noFill/>
              <a:prstDash val="solid"/>
              <a:miter/>
            </a:ln>
          </p:spPr>
          <p:txBody>
            <a:bodyPr/>
            <a:lstStyle/>
            <a:p>
              <a:endParaRPr lang="fr-FR" b="1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BA2B7F71-742B-21EC-D42C-DA7A3ED9F5D5}"/>
                </a:ext>
              </a:extLst>
            </p:cNvPr>
            <p:cNvSpPr/>
            <p:nvPr/>
          </p:nvSpPr>
          <p:spPr>
            <a:xfrm>
              <a:off x="453833" y="5526649"/>
              <a:ext cx="238577" cy="238577"/>
            </a:xfrm>
            <a:prstGeom prst="ellipse">
              <a:avLst/>
            </a:prstGeom>
            <a:solidFill>
              <a:schemeClr val="accent1"/>
            </a:solidFill>
            <a:ln w="19844" cap="flat">
              <a:noFill/>
              <a:prstDash val="solid"/>
              <a:miter/>
            </a:ln>
          </p:spPr>
          <p:txBody>
            <a:bodyPr/>
            <a:lstStyle/>
            <a:p>
              <a:endParaRPr lang="fr-FR" b="1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9874B732-E10F-D45F-3A12-0B456FFDC6E8}"/>
                </a:ext>
              </a:extLst>
            </p:cNvPr>
            <p:cNvSpPr/>
            <p:nvPr/>
          </p:nvSpPr>
          <p:spPr>
            <a:xfrm>
              <a:off x="1249091" y="5526649"/>
              <a:ext cx="238577" cy="238577"/>
            </a:xfrm>
            <a:prstGeom prst="ellipse">
              <a:avLst/>
            </a:prstGeom>
            <a:solidFill>
              <a:schemeClr val="accent1"/>
            </a:solidFill>
            <a:ln w="19844" cap="flat">
              <a:noFill/>
              <a:prstDash val="solid"/>
              <a:miter/>
            </a:ln>
          </p:spPr>
          <p:txBody>
            <a:bodyPr/>
            <a:lstStyle/>
            <a:p>
              <a:endParaRPr lang="fr-FR" b="1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32D97E19-49D0-5871-6DBF-867537E5FE47}"/>
                </a:ext>
              </a:extLst>
            </p:cNvPr>
            <p:cNvSpPr/>
            <p:nvPr/>
          </p:nvSpPr>
          <p:spPr>
            <a:xfrm>
              <a:off x="851462" y="5526649"/>
              <a:ext cx="238577" cy="238577"/>
            </a:xfrm>
            <a:prstGeom prst="ellipse">
              <a:avLst/>
            </a:prstGeom>
            <a:solidFill>
              <a:schemeClr val="accent1"/>
            </a:solidFill>
            <a:ln w="19844" cap="flat">
              <a:noFill/>
              <a:prstDash val="solid"/>
              <a:miter/>
            </a:ln>
          </p:spPr>
          <p:txBody>
            <a:bodyPr/>
            <a:lstStyle/>
            <a:p>
              <a:endParaRPr lang="fr-FR" b="1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ntre guillemets">
  <a:themeElements>
    <a:clrScheme name="Quotable">
      <a:dk1>
        <a:srgbClr val="000000"/>
      </a:dk1>
      <a:lt1>
        <a:srgbClr val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500</TotalTime>
  <Words>1006</Words>
  <Application>Microsoft Office PowerPoint</Application>
  <PresentationFormat>Grand écran</PresentationFormat>
  <Paragraphs>126</Paragraphs>
  <Slides>17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2" baseType="lpstr">
      <vt:lpstr>Arial</vt:lpstr>
      <vt:lpstr>Noto Sans Symbols</vt:lpstr>
      <vt:lpstr>Century Gothic</vt:lpstr>
      <vt:lpstr>Calibri</vt:lpstr>
      <vt:lpstr>Entre guillemets</vt:lpstr>
      <vt:lpstr>Étude sur l’alimentation dans le monde</vt:lpstr>
      <vt:lpstr>Contexte et spécification des données</vt:lpstr>
      <vt:lpstr>Méthodologie de l’analyse</vt:lpstr>
      <vt:lpstr>1) Proportion de personnes en état de sous-nutrition en 2017</vt:lpstr>
      <vt:lpstr>2) Nombre théorique de personnes qui pourraient être nourries en 2017</vt:lpstr>
      <vt:lpstr>2) Nombre théorique de personnes qui pourraient être nourries en 2017</vt:lpstr>
      <vt:lpstr>3) Nombre théorique de personnes qui pourraient être nourries uniquement avec les végétaux en 2017</vt:lpstr>
      <vt:lpstr>4) Répartition de la disponibilité intérieure</vt:lpstr>
      <vt:lpstr>5) Part de l’utilisation des principales céréales entre l’alimentation humaine et animale</vt:lpstr>
      <vt:lpstr>6) Liste des 10 pays où la proportion de personnes en état de sous-nutrition est la plus forte en 2017</vt:lpstr>
      <vt:lpstr>7) Liste des 10 pays qui ont le plus bénéficié de l’aide alimentaire entre 2013 et 2016</vt:lpstr>
      <vt:lpstr>8) Évolution de l’aide alimentaire pour les 5 pays qui en ont le plus bénéficié entre 2013 et 2016</vt:lpstr>
      <vt:lpstr>9) Liste des 10 pays qui ont la plus forte disponibilité alimentaire par habitant</vt:lpstr>
      <vt:lpstr>9) Liste des 10 pays qui ont la plus faible disponibilité alimentaire par habitant</vt:lpstr>
      <vt:lpstr>10) Étude sur le manioc en Thaïlande</vt:lpstr>
      <vt:lpstr>11) Analyses complémentaires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JeY jEy</dc:creator>
  <cp:lastModifiedBy>Adja Nafi DIEYE</cp:lastModifiedBy>
  <cp:revision>5</cp:revision>
  <dcterms:created xsi:type="dcterms:W3CDTF">2023-03-17T20:58:30Z</dcterms:created>
  <dcterms:modified xsi:type="dcterms:W3CDTF">2026-05-02T23:23:03Z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